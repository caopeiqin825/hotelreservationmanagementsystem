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49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12192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r">
              <a:buNone/>
            </a:pPr>
            <a:fld id="{9F438FE6-A6DF-4573-B13F-9488BEB98B8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3837EE-0EA5-49C8-A428-09B8ED611CC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BB3F41-71E8-4814-BA45-58D04A047B9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073404-1D95-4538-B5F9-A016030E12D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750600-ECF4-4C14-8F00-E5C1C0CF034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FF94B7-E179-4ABF-8E59-0DD34093F1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92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4D05B3-49A5-4A54-8810-1F9E70726C3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D71ECF-4774-4FBB-B2C8-214B39E4FF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98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2F028B-A2FB-441B-A1DD-AB26F82A908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01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509769-4B16-4840-890E-1341B799500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F0DE718F-DEA6-4A1D-AE88-EB4004DBB1AA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C2BE3AC1-87E2-4EB7-9D65-54DA3E80AD3D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63A5F"/>
          </a:solidFill>
          <a:ln w="12600">
            <a:solidFill>
              <a:srgbClr val="16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" name="Text 1"/>
          <p:cNvSpPr/>
          <p:nvPr/>
        </p:nvSpPr>
        <p:spPr>
          <a:xfrm>
            <a:off x="502920" y="6528960"/>
            <a:ext cx="5943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A8793"/>
                </a:solidFill>
                <a:effectLst/>
                <a:uFillTx/>
                <a:latin typeface="Aptos"/>
                <a:ea typeface="Aptos"/>
              </a:rPr>
              <a:t>Sprint 1 — Requirements Analysis and System Design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" name="Text 2"/>
          <p:cNvSpPr/>
          <p:nvPr/>
        </p:nvSpPr>
        <p:spPr>
          <a:xfrm>
            <a:off x="8229600" y="6528960"/>
            <a:ext cx="34743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A8793"/>
                </a:solidFill>
                <a:effectLst/>
                <a:uFillTx/>
                <a:latin typeface="Aptos"/>
                <a:ea typeface="Aptos"/>
              </a:rPr>
              <a:t>Hotel Reservation Management System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sldNum" idx="1"/>
          </p:nvPr>
        </p:nvSpPr>
        <p:spPr>
          <a:xfrm>
            <a:off x="11722680" y="651960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7A8793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1EF5DBD-C96C-4970-9B3C-CFC86398A05D}" type="slidenum">
              <a:rPr lang="en-US" sz="900" b="0" u="none" strike="noStrike">
                <a:solidFill>
                  <a:srgbClr val="7A8793"/>
                </a:solidFill>
                <a:effectLst/>
                <a:uFillTx/>
                <a:latin typeface="Aptos"/>
                <a:ea typeface="Aptos"/>
              </a:rPr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594360" y="603360"/>
            <a:ext cx="5486040" cy="141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163A5F"/>
                </a:solidFill>
                <a:effectLst/>
                <a:uFillTx/>
                <a:latin typeface="Aptos Display"/>
                <a:ea typeface="Aptos Display"/>
              </a:rPr>
              <a:t>Development of a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163A5F"/>
                </a:solidFill>
                <a:effectLst/>
                <a:uFillTx/>
                <a:latin typeface="Aptos Display"/>
                <a:ea typeface="Aptos Display"/>
              </a:rPr>
              <a:t>Hotel Reservation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163A5F"/>
                </a:solidFill>
                <a:effectLst/>
                <a:uFillTx/>
                <a:latin typeface="Aptos Display"/>
                <a:ea typeface="Aptos Display"/>
              </a:rPr>
              <a:t>Management System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5" name="Text 1"/>
          <p:cNvSpPr/>
          <p:nvPr/>
        </p:nvSpPr>
        <p:spPr>
          <a:xfrm>
            <a:off x="612720" y="2130480"/>
            <a:ext cx="5303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A9D8F"/>
                </a:solidFill>
                <a:effectLst/>
                <a:uFillTx/>
                <a:latin typeface="Aptos"/>
              </a:rPr>
              <a:t>Sprint 1 — Requirements Analysis and System Design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6" name="Text 2"/>
          <p:cNvSpPr/>
          <p:nvPr/>
        </p:nvSpPr>
        <p:spPr>
          <a:xfrm>
            <a:off x="612720" y="2560320"/>
            <a:ext cx="5257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586979"/>
                </a:solidFill>
                <a:effectLst/>
                <a:uFillTx/>
                <a:latin typeface="Aptos"/>
              </a:rPr>
              <a:t>A centralized employee-facing system for a medium-sized hotel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" name="Shape 3"/>
          <p:cNvSpPr/>
          <p:nvPr/>
        </p:nvSpPr>
        <p:spPr>
          <a:xfrm>
            <a:off x="640080" y="3246120"/>
            <a:ext cx="1234080" cy="347040"/>
          </a:xfrm>
          <a:prstGeom prst="roundRect">
            <a:avLst>
              <a:gd name="adj" fmla="val 21053"/>
            </a:avLst>
          </a:prstGeom>
          <a:solidFill>
            <a:srgbClr val="EAF2F8"/>
          </a:solidFill>
          <a:ln w="12600">
            <a:solidFill>
              <a:srgbClr val="EAF2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" name="Text 4"/>
          <p:cNvSpPr/>
          <p:nvPr/>
        </p:nvSpPr>
        <p:spPr>
          <a:xfrm>
            <a:off x="685800" y="3305520"/>
            <a:ext cx="1142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F6FA3"/>
                </a:solidFill>
                <a:effectLst/>
                <a:uFillTx/>
                <a:latin typeface="Aptos"/>
              </a:rPr>
              <a:t>1 HOTEL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" name="Shape 5"/>
          <p:cNvSpPr/>
          <p:nvPr/>
        </p:nvSpPr>
        <p:spPr>
          <a:xfrm>
            <a:off x="1965960" y="3246120"/>
            <a:ext cx="1416960" cy="347040"/>
          </a:xfrm>
          <a:prstGeom prst="roundRect">
            <a:avLst>
              <a:gd name="adj" fmla="val 21053"/>
            </a:avLst>
          </a:prstGeom>
          <a:solidFill>
            <a:srgbClr val="EAF5F1"/>
          </a:solidFill>
          <a:ln w="12600">
            <a:solidFill>
              <a:srgbClr val="EAF5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0" name="Text 6"/>
          <p:cNvSpPr/>
          <p:nvPr/>
        </p:nvSpPr>
        <p:spPr>
          <a:xfrm>
            <a:off x="2011680" y="3305520"/>
            <a:ext cx="1325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5C9A7A"/>
                </a:solidFill>
                <a:effectLst/>
                <a:uFillTx/>
                <a:latin typeface="Aptos"/>
              </a:rPr>
              <a:t>≈ 80 ROOMS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1" name="Shape 7"/>
          <p:cNvSpPr/>
          <p:nvPr/>
        </p:nvSpPr>
        <p:spPr>
          <a:xfrm>
            <a:off x="3493080" y="3246120"/>
            <a:ext cx="1572480" cy="347040"/>
          </a:xfrm>
          <a:prstGeom prst="roundRect">
            <a:avLst>
              <a:gd name="adj" fmla="val 21053"/>
            </a:avLst>
          </a:prstGeom>
          <a:solidFill>
            <a:srgbClr val="FFF4D6"/>
          </a:solidFill>
          <a:ln w="12600">
            <a:solidFill>
              <a:srgbClr val="FFF4D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2" name="Text 8"/>
          <p:cNvSpPr/>
          <p:nvPr/>
        </p:nvSpPr>
        <p:spPr>
          <a:xfrm>
            <a:off x="3538800" y="3305520"/>
            <a:ext cx="1481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9B6A00"/>
                </a:solidFill>
                <a:effectLst/>
                <a:uFillTx/>
                <a:latin typeface="Aptos"/>
              </a:rPr>
              <a:t>5 STAFF ROLES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" name="Shape 9"/>
          <p:cNvSpPr/>
          <p:nvPr/>
        </p:nvSpPr>
        <p:spPr>
          <a:xfrm>
            <a:off x="5065920" y="3246120"/>
            <a:ext cx="1005480" cy="347040"/>
          </a:xfrm>
          <a:prstGeom prst="roundRect">
            <a:avLst>
              <a:gd name="adj" fmla="val 21053"/>
            </a:avLst>
          </a:prstGeom>
          <a:solidFill>
            <a:srgbClr val="FCECE8"/>
          </a:solidFill>
          <a:ln w="12600">
            <a:solidFill>
              <a:srgbClr val="FCEC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4" name="Text 10"/>
          <p:cNvSpPr/>
          <p:nvPr/>
        </p:nvSpPr>
        <p:spPr>
          <a:xfrm>
            <a:off x="5111640" y="330552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E76F51"/>
                </a:solidFill>
                <a:effectLst/>
                <a:uFillTx/>
                <a:latin typeface="Aptos"/>
              </a:rPr>
              <a:t>8 SPRINTS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5" name="Shape 11"/>
          <p:cNvSpPr/>
          <p:nvPr/>
        </p:nvSpPr>
        <p:spPr>
          <a:xfrm>
            <a:off x="621720" y="3977640"/>
            <a:ext cx="5166000" cy="162720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600">
            <a:solidFill>
              <a:srgbClr val="D8E0E7"/>
            </a:solidFill>
            <a:round/>
          </a:ln>
          <a:effectLst>
            <a:outerShdw blurRad="19080" dist="8654" dir="2700000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0" name="Text 16"/>
          <p:cNvSpPr/>
          <p:nvPr/>
        </p:nvSpPr>
        <p:spPr>
          <a:xfrm>
            <a:off x="868680" y="3986530"/>
            <a:ext cx="4803140" cy="5308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rgbClr val="586979"/>
                </a:solidFill>
                <a:effectLst/>
                <a:uFillTx/>
                <a:latin typeface="Aptos"/>
              </a:rPr>
              <a:t>Supervisor:  Pavlo Pustovoitov</a:t>
            </a:r>
            <a:endParaRPr lang="en-US" b="1" u="none" strike="noStrike">
              <a:solidFill>
                <a:srgbClr val="586979"/>
              </a:solidFill>
              <a:effectLst/>
              <a:uFillTx/>
              <a:latin typeface="Aptos"/>
            </a:endParaRPr>
          </a:p>
        </p:txBody>
      </p:sp>
      <p:sp>
        <p:nvSpPr>
          <p:cNvPr id="32" name="Shape 18"/>
          <p:cNvSpPr/>
          <p:nvPr/>
        </p:nvSpPr>
        <p:spPr>
          <a:xfrm>
            <a:off x="6172200" y="594360"/>
            <a:ext cx="5348880" cy="5440320"/>
          </a:xfrm>
          <a:prstGeom prst="roundRect">
            <a:avLst>
              <a:gd name="adj" fmla="val 1026"/>
            </a:avLst>
          </a:prstGeom>
          <a:solidFill>
            <a:srgbClr val="F3F7FA"/>
          </a:solidFill>
          <a:ln w="12600">
            <a:solidFill>
              <a:srgbClr val="D6E2EC"/>
            </a:solidFill>
            <a:round/>
          </a:ln>
          <a:effectLst>
            <a:outerShdw blurRad="241935120" dist="112902840" rotWithShape="0">
              <a:srgbClr val="000000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3" name="Text 19"/>
          <p:cNvSpPr/>
          <p:nvPr/>
        </p:nvSpPr>
        <p:spPr>
          <a:xfrm>
            <a:off x="6537960" y="86868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63A5F"/>
                </a:solidFill>
                <a:effectLst/>
                <a:uFillTx/>
                <a:latin typeface="Aptos"/>
              </a:rPr>
              <a:t>What this project changes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4" name="Shape 20"/>
          <p:cNvSpPr/>
          <p:nvPr/>
        </p:nvSpPr>
        <p:spPr>
          <a:xfrm>
            <a:off x="6629400" y="1444680"/>
            <a:ext cx="502560" cy="502560"/>
          </a:xfrm>
          <a:prstGeom prst="ellipse">
            <a:avLst/>
          </a:prstGeom>
          <a:solidFill>
            <a:srgbClr val="E76F51"/>
          </a:solidFill>
          <a:ln w="12600">
            <a:solidFill>
              <a:srgbClr val="E76F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5" name="Text 21"/>
          <p:cNvSpPr/>
          <p:nvPr/>
        </p:nvSpPr>
        <p:spPr>
          <a:xfrm>
            <a:off x="6629400" y="151776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6" name="Shape 22"/>
          <p:cNvSpPr/>
          <p:nvPr/>
        </p:nvSpPr>
        <p:spPr>
          <a:xfrm>
            <a:off x="7360920" y="1389960"/>
            <a:ext cx="3611520" cy="6580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600">
            <a:solidFill>
              <a:srgbClr val="DCE5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7" name="Text 23"/>
          <p:cNvSpPr/>
          <p:nvPr/>
        </p:nvSpPr>
        <p:spPr>
          <a:xfrm>
            <a:off x="7571160" y="1463040"/>
            <a:ext cx="32000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Fragmented Tools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8" name="Text 24"/>
          <p:cNvSpPr/>
          <p:nvPr/>
        </p:nvSpPr>
        <p:spPr>
          <a:xfrm>
            <a:off x="7571160" y="1728360"/>
            <a:ext cx="3200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86979"/>
                </a:solidFill>
                <a:effectLst/>
                <a:uFillTx/>
                <a:latin typeface="Aptos"/>
              </a:rPr>
              <a:t>spreadsheets • email • notes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9" name="Shape 25"/>
          <p:cNvSpPr/>
          <p:nvPr/>
        </p:nvSpPr>
        <p:spPr>
          <a:xfrm>
            <a:off x="6876000" y="1974960"/>
            <a:ext cx="360" cy="411480"/>
          </a:xfrm>
          <a:prstGeom prst="line">
            <a:avLst/>
          </a:prstGeom>
          <a:ln w="31680">
            <a:solidFill>
              <a:srgbClr val="A6B5C2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0" name="Shape 26"/>
          <p:cNvSpPr/>
          <p:nvPr/>
        </p:nvSpPr>
        <p:spPr>
          <a:xfrm>
            <a:off x="6629400" y="2487240"/>
            <a:ext cx="502560" cy="502560"/>
          </a:xfrm>
          <a:prstGeom prst="ellipse">
            <a:avLst/>
          </a:prstGeom>
          <a:solidFill>
            <a:srgbClr val="E9C46A"/>
          </a:solidFill>
          <a:ln w="12600">
            <a:solidFill>
              <a:srgbClr val="E9C46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1" name="Text 27"/>
          <p:cNvSpPr/>
          <p:nvPr/>
        </p:nvSpPr>
        <p:spPr>
          <a:xfrm>
            <a:off x="6629400" y="256032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2" name="Shape 28"/>
          <p:cNvSpPr/>
          <p:nvPr/>
        </p:nvSpPr>
        <p:spPr>
          <a:xfrm>
            <a:off x="7360920" y="2432160"/>
            <a:ext cx="3611520" cy="6580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600">
            <a:solidFill>
              <a:srgbClr val="DCE5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3" name="Text 29"/>
          <p:cNvSpPr/>
          <p:nvPr/>
        </p:nvSpPr>
        <p:spPr>
          <a:xfrm>
            <a:off x="7571160" y="2505600"/>
            <a:ext cx="32000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Hotel Employees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4" name="Text 30"/>
          <p:cNvSpPr/>
          <p:nvPr/>
        </p:nvSpPr>
        <p:spPr>
          <a:xfrm>
            <a:off x="7571160" y="2770560"/>
            <a:ext cx="3200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86979"/>
                </a:solidFill>
                <a:effectLst/>
                <a:uFillTx/>
                <a:latin typeface="Aptos"/>
              </a:rPr>
              <a:t>front desk • manager • finance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5" name="Shape 31"/>
          <p:cNvSpPr/>
          <p:nvPr/>
        </p:nvSpPr>
        <p:spPr>
          <a:xfrm>
            <a:off x="6876000" y="3017520"/>
            <a:ext cx="360" cy="411480"/>
          </a:xfrm>
          <a:prstGeom prst="line">
            <a:avLst/>
          </a:prstGeom>
          <a:ln w="31680">
            <a:solidFill>
              <a:srgbClr val="A6B5C2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6" name="Shape 32"/>
          <p:cNvSpPr/>
          <p:nvPr/>
        </p:nvSpPr>
        <p:spPr>
          <a:xfrm>
            <a:off x="6629400" y="3529440"/>
            <a:ext cx="502560" cy="502560"/>
          </a:xfrm>
          <a:prstGeom prst="ellipse">
            <a:avLst/>
          </a:prstGeom>
          <a:solidFill>
            <a:srgbClr val="2A9D8F"/>
          </a:solidFill>
          <a:ln w="12600">
            <a:solidFill>
              <a:srgbClr val="2A9D8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7" name="Text 33"/>
          <p:cNvSpPr/>
          <p:nvPr/>
        </p:nvSpPr>
        <p:spPr>
          <a:xfrm>
            <a:off x="6629400" y="360288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8" name="Shape 34"/>
          <p:cNvSpPr/>
          <p:nvPr/>
        </p:nvSpPr>
        <p:spPr>
          <a:xfrm>
            <a:off x="7360920" y="3474720"/>
            <a:ext cx="3611520" cy="6580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600">
            <a:solidFill>
              <a:srgbClr val="DCE5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9" name="Text 35"/>
          <p:cNvSpPr/>
          <p:nvPr/>
        </p:nvSpPr>
        <p:spPr>
          <a:xfrm>
            <a:off x="7571160" y="3547800"/>
            <a:ext cx="32000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Centralized HRMS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0" name="Text 36"/>
          <p:cNvSpPr/>
          <p:nvPr/>
        </p:nvSpPr>
        <p:spPr>
          <a:xfrm>
            <a:off x="7571160" y="3813120"/>
            <a:ext cx="3200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86979"/>
                </a:solidFill>
                <a:effectLst/>
                <a:uFillTx/>
                <a:latin typeface="Aptos"/>
              </a:rPr>
              <a:t>rooms • guests • reservations • payments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1" name="Shape 37"/>
          <p:cNvSpPr/>
          <p:nvPr/>
        </p:nvSpPr>
        <p:spPr>
          <a:xfrm>
            <a:off x="6876000" y="4059720"/>
            <a:ext cx="360" cy="411480"/>
          </a:xfrm>
          <a:prstGeom prst="line">
            <a:avLst/>
          </a:prstGeom>
          <a:ln w="31680">
            <a:solidFill>
              <a:srgbClr val="A6B5C2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2" name="Shape 38"/>
          <p:cNvSpPr/>
          <p:nvPr/>
        </p:nvSpPr>
        <p:spPr>
          <a:xfrm>
            <a:off x="6629400" y="4572000"/>
            <a:ext cx="502560" cy="502560"/>
          </a:xfrm>
          <a:prstGeom prst="ellipse">
            <a:avLst/>
          </a:prstGeom>
          <a:solidFill>
            <a:srgbClr val="2F6FA3"/>
          </a:solidFill>
          <a:ln w="12600">
            <a:solidFill>
              <a:srgbClr val="2F6FA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3" name="Text 39"/>
          <p:cNvSpPr/>
          <p:nvPr/>
        </p:nvSpPr>
        <p:spPr>
          <a:xfrm>
            <a:off x="6629400" y="464508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4" name="Shape 40"/>
          <p:cNvSpPr/>
          <p:nvPr/>
        </p:nvSpPr>
        <p:spPr>
          <a:xfrm>
            <a:off x="7360920" y="4517280"/>
            <a:ext cx="3611520" cy="6580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600">
            <a:solidFill>
              <a:srgbClr val="DCE5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5" name="Text 41"/>
          <p:cNvSpPr/>
          <p:nvPr/>
        </p:nvSpPr>
        <p:spPr>
          <a:xfrm>
            <a:off x="7571160" y="4590360"/>
            <a:ext cx="32000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Better Operations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6" name="Text 42"/>
          <p:cNvSpPr/>
          <p:nvPr/>
        </p:nvSpPr>
        <p:spPr>
          <a:xfrm>
            <a:off x="7571160" y="4855320"/>
            <a:ext cx="3200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86979"/>
                </a:solidFill>
                <a:effectLst/>
                <a:uFillTx/>
                <a:latin typeface="Aptos"/>
              </a:rPr>
              <a:t>fewer conflicts • faster service • clearer reports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7" name="PlaceHolder 1"/>
          <p:cNvSpPr>
            <a:spLocks noGrp="1"/>
          </p:cNvSpPr>
          <p:nvPr>
            <p:ph type="sldNum" idx="5"/>
          </p:nvPr>
        </p:nvSpPr>
        <p:spPr>
          <a:xfrm>
            <a:off x="11722680" y="651960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7A8793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B59BECF-A932-423E-9B39-144B57D0480B}" type="slidenum">
              <a:rPr lang="en-US" sz="900" b="0" u="none" strike="noStrike">
                <a:solidFill>
                  <a:srgbClr val="7A8793"/>
                </a:solidFill>
                <a:effectLst/>
                <a:uFillTx/>
                <a:latin typeface="Aptos"/>
                <a:ea typeface="Aptos"/>
              </a:rPr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" name="Text 12"/>
          <p:cNvSpPr/>
          <p:nvPr/>
        </p:nvSpPr>
        <p:spPr>
          <a:xfrm>
            <a:off x="868680" y="4910455"/>
            <a:ext cx="4500880" cy="4343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586979"/>
                </a:solidFill>
                <a:effectLst/>
                <a:uFillTx/>
                <a:latin typeface="Aptos"/>
              </a:rPr>
              <a:t>Student Name  :  Cao Peiqin</a:t>
            </a:r>
            <a:endParaRPr lang="en-US" sz="1600" b="1" u="none" strike="noStrike">
              <a:solidFill>
                <a:srgbClr val="586979"/>
              </a:solidFill>
              <a:effectLst/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0"/>
          <p:cNvSpPr/>
          <p:nvPr/>
        </p:nvSpPr>
        <p:spPr>
          <a:xfrm>
            <a:off x="530280" y="311040"/>
            <a:ext cx="110638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163A5F"/>
                </a:solidFill>
                <a:effectLst/>
                <a:uFillTx/>
                <a:latin typeface="Aptos Display"/>
                <a:ea typeface="Aptos Display"/>
              </a:rPr>
              <a:t>Problem Statement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9" name="Text 1"/>
          <p:cNvSpPr/>
          <p:nvPr/>
        </p:nvSpPr>
        <p:spPr>
          <a:xfrm>
            <a:off x="548640" y="74988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86979"/>
                </a:solidFill>
                <a:effectLst/>
                <a:uFillTx/>
                <a:latin typeface="Aptos"/>
              </a:rPr>
              <a:t>Why the hotel needs a centralized reservation management system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0" name="Shape 2"/>
          <p:cNvSpPr/>
          <p:nvPr/>
        </p:nvSpPr>
        <p:spPr>
          <a:xfrm>
            <a:off x="567000" y="1188720"/>
            <a:ext cx="4708800" cy="498312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2600">
            <a:solidFill>
              <a:srgbClr val="D8E0E7"/>
            </a:solidFill>
            <a:round/>
          </a:ln>
          <a:effectLst>
            <a:outerShdw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1" name="Text 3"/>
          <p:cNvSpPr/>
          <p:nvPr/>
        </p:nvSpPr>
        <p:spPr>
          <a:xfrm>
            <a:off x="841320" y="1444680"/>
            <a:ext cx="41601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E76F51"/>
                </a:solidFill>
                <a:effectLst/>
                <a:uFillTx/>
                <a:latin typeface="Aptos"/>
              </a:rPr>
              <a:t>CURRENT WORKFLOW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2" name="Shape 4"/>
          <p:cNvSpPr/>
          <p:nvPr/>
        </p:nvSpPr>
        <p:spPr>
          <a:xfrm>
            <a:off x="868680" y="1817370"/>
            <a:ext cx="1416960" cy="493560"/>
          </a:xfrm>
          <a:prstGeom prst="roundRect">
            <a:avLst>
              <a:gd name="adj" fmla="val 9259"/>
            </a:avLst>
          </a:prstGeom>
          <a:solidFill>
            <a:srgbClr val="EAF2F8"/>
          </a:solidFill>
          <a:ln w="12600">
            <a:solidFill>
              <a:srgbClr val="C9DD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3" name="Text 5"/>
          <p:cNvSpPr/>
          <p:nvPr/>
        </p:nvSpPr>
        <p:spPr>
          <a:xfrm>
            <a:off x="969645" y="1966650"/>
            <a:ext cx="12340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 dirty="0">
                <a:solidFill>
                  <a:srgbClr val="23303D"/>
                </a:solidFill>
                <a:effectLst/>
                <a:uFillTx/>
                <a:latin typeface="Aptos"/>
              </a:rPr>
              <a:t>Spreadsheet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4" name="Text 6"/>
          <p:cNvSpPr/>
          <p:nvPr/>
        </p:nvSpPr>
        <p:spPr>
          <a:xfrm>
            <a:off x="2807279" y="1957650"/>
            <a:ext cx="1000455" cy="2140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 dirty="0">
                <a:solidFill>
                  <a:srgbClr val="586979"/>
                </a:solidFill>
                <a:effectLst/>
                <a:uFillTx/>
                <a:latin typeface="Aptos"/>
              </a:rPr>
              <a:t>availability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5" name="Shape 7"/>
          <p:cNvSpPr/>
          <p:nvPr/>
        </p:nvSpPr>
        <p:spPr>
          <a:xfrm flipV="1">
            <a:off x="2286000" y="2063970"/>
            <a:ext cx="320039" cy="0"/>
          </a:xfrm>
          <a:prstGeom prst="line">
            <a:avLst/>
          </a:prstGeom>
          <a:ln w="31680">
            <a:solidFill>
              <a:srgbClr val="AAB8C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6" name="Shape 8"/>
          <p:cNvSpPr/>
          <p:nvPr/>
        </p:nvSpPr>
        <p:spPr>
          <a:xfrm>
            <a:off x="868680" y="2624400"/>
            <a:ext cx="1416960" cy="493560"/>
          </a:xfrm>
          <a:prstGeom prst="roundRect">
            <a:avLst>
              <a:gd name="adj" fmla="val 9259"/>
            </a:avLst>
          </a:prstGeom>
          <a:solidFill>
            <a:srgbClr val="FFF4D6"/>
          </a:solidFill>
          <a:ln w="12600">
            <a:solidFill>
              <a:srgbClr val="E9D1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7" name="Text 9"/>
          <p:cNvSpPr/>
          <p:nvPr/>
        </p:nvSpPr>
        <p:spPr>
          <a:xfrm>
            <a:off x="960120" y="2783205"/>
            <a:ext cx="12340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 dirty="0">
                <a:solidFill>
                  <a:srgbClr val="23303D"/>
                </a:solidFill>
                <a:effectLst/>
                <a:uFillTx/>
                <a:latin typeface="Aptos"/>
              </a:rPr>
              <a:t>Email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8" name="Text 10"/>
          <p:cNvSpPr/>
          <p:nvPr/>
        </p:nvSpPr>
        <p:spPr>
          <a:xfrm>
            <a:off x="2634615" y="2774205"/>
            <a:ext cx="1554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 dirty="0">
                <a:solidFill>
                  <a:srgbClr val="586979"/>
                </a:solidFill>
                <a:effectLst/>
                <a:uFillTx/>
                <a:latin typeface="Aptos"/>
              </a:rPr>
              <a:t>booking requests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0" name="Shape 12"/>
          <p:cNvSpPr/>
          <p:nvPr/>
        </p:nvSpPr>
        <p:spPr>
          <a:xfrm>
            <a:off x="868680" y="3374280"/>
            <a:ext cx="1416960" cy="493560"/>
          </a:xfrm>
          <a:prstGeom prst="roundRect">
            <a:avLst>
              <a:gd name="adj" fmla="val 9259"/>
            </a:avLst>
          </a:prstGeom>
          <a:solidFill>
            <a:srgbClr val="EAF2F8"/>
          </a:solidFill>
          <a:ln w="12600">
            <a:solidFill>
              <a:srgbClr val="C9DD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1" name="Text 13"/>
          <p:cNvSpPr/>
          <p:nvPr/>
        </p:nvSpPr>
        <p:spPr>
          <a:xfrm>
            <a:off x="960120" y="3533085"/>
            <a:ext cx="12340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 dirty="0">
                <a:solidFill>
                  <a:srgbClr val="23303D"/>
                </a:solidFill>
                <a:effectLst/>
                <a:uFillTx/>
                <a:latin typeface="Aptos"/>
              </a:rPr>
              <a:t>Handwritten Notes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2" name="Text 14"/>
          <p:cNvSpPr/>
          <p:nvPr/>
        </p:nvSpPr>
        <p:spPr>
          <a:xfrm>
            <a:off x="2777490" y="3523725"/>
            <a:ext cx="1554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 dirty="0">
                <a:solidFill>
                  <a:srgbClr val="586979"/>
                </a:solidFill>
                <a:effectLst/>
                <a:uFillTx/>
                <a:latin typeface="Aptos"/>
              </a:rPr>
              <a:t>room changes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4" name="Shape 16"/>
          <p:cNvSpPr/>
          <p:nvPr/>
        </p:nvSpPr>
        <p:spPr>
          <a:xfrm>
            <a:off x="868680" y="4123800"/>
            <a:ext cx="1416960" cy="493560"/>
          </a:xfrm>
          <a:prstGeom prst="roundRect">
            <a:avLst>
              <a:gd name="adj" fmla="val 9259"/>
            </a:avLst>
          </a:prstGeom>
          <a:solidFill>
            <a:srgbClr val="FFF4D6"/>
          </a:solidFill>
          <a:ln w="12600">
            <a:solidFill>
              <a:srgbClr val="E9D1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5" name="Text 17"/>
          <p:cNvSpPr/>
          <p:nvPr/>
        </p:nvSpPr>
        <p:spPr>
          <a:xfrm>
            <a:off x="960120" y="4273440"/>
            <a:ext cx="12340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 dirty="0">
                <a:solidFill>
                  <a:srgbClr val="23303D"/>
                </a:solidFill>
                <a:effectLst/>
                <a:uFillTx/>
                <a:latin typeface="Aptos"/>
              </a:rPr>
              <a:t>Separate Apps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6" name="Text 18"/>
          <p:cNvSpPr/>
          <p:nvPr/>
        </p:nvSpPr>
        <p:spPr>
          <a:xfrm>
            <a:off x="2644501" y="4255080"/>
            <a:ext cx="1554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 dirty="0">
                <a:solidFill>
                  <a:srgbClr val="586979"/>
                </a:solidFill>
                <a:effectLst/>
                <a:uFillTx/>
                <a:latin typeface="Aptos"/>
              </a:rPr>
              <a:t>payments / guests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8" name="Shape 20"/>
          <p:cNvSpPr/>
          <p:nvPr/>
        </p:nvSpPr>
        <p:spPr>
          <a:xfrm>
            <a:off x="1993320" y="5074920"/>
            <a:ext cx="1810080" cy="603000"/>
          </a:xfrm>
          <a:prstGeom prst="ellipse">
            <a:avLst/>
          </a:prstGeom>
          <a:solidFill>
            <a:srgbClr val="163A5F"/>
          </a:solidFill>
          <a:ln w="12600">
            <a:solidFill>
              <a:srgbClr val="16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9" name="Text 21"/>
          <p:cNvSpPr/>
          <p:nvPr/>
        </p:nvSpPr>
        <p:spPr>
          <a:xfrm>
            <a:off x="2084760" y="5248800"/>
            <a:ext cx="16272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Reception Staff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0" name="Text 22"/>
          <p:cNvSpPr/>
          <p:nvPr/>
        </p:nvSpPr>
        <p:spPr>
          <a:xfrm>
            <a:off x="960120" y="5760720"/>
            <a:ext cx="39772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586979"/>
                </a:solidFill>
                <a:effectLst/>
                <a:uFillTx/>
                <a:latin typeface="Aptos"/>
              </a:rPr>
              <a:t>Employees must switch between several information sources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1" name="Shape 23"/>
          <p:cNvSpPr/>
          <p:nvPr/>
        </p:nvSpPr>
        <p:spPr>
          <a:xfrm>
            <a:off x="5577840" y="1216605"/>
            <a:ext cx="2742840" cy="1755360"/>
          </a:xfrm>
          <a:prstGeom prst="roundRect">
            <a:avLst>
              <a:gd name="adj" fmla="val 3125"/>
            </a:avLst>
          </a:prstGeom>
          <a:solidFill>
            <a:srgbClr val="FCECE8"/>
          </a:solidFill>
          <a:ln w="12600">
            <a:solidFill>
              <a:srgbClr val="E76F51"/>
            </a:solidFill>
            <a:round/>
          </a:ln>
          <a:effectLst>
            <a:outerShdw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2" name="Shape 24"/>
          <p:cNvSpPr/>
          <p:nvPr/>
        </p:nvSpPr>
        <p:spPr>
          <a:xfrm>
            <a:off x="5760720" y="1389960"/>
            <a:ext cx="383760" cy="383760"/>
          </a:xfrm>
          <a:prstGeom prst="ellipse">
            <a:avLst/>
          </a:prstGeom>
          <a:solidFill>
            <a:srgbClr val="E76F51"/>
          </a:solidFill>
          <a:ln w="12600">
            <a:solidFill>
              <a:srgbClr val="E76F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3" name="Text 25"/>
          <p:cNvSpPr/>
          <p:nvPr/>
        </p:nvSpPr>
        <p:spPr>
          <a:xfrm>
            <a:off x="5760720" y="1520715"/>
            <a:ext cx="3837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4" name="Text 26"/>
          <p:cNvSpPr/>
          <p:nvPr/>
        </p:nvSpPr>
        <p:spPr>
          <a:xfrm>
            <a:off x="6272640" y="1475685"/>
            <a:ext cx="17827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dirty="0">
                <a:solidFill>
                  <a:srgbClr val="23303D"/>
                </a:solidFill>
                <a:effectLst/>
                <a:uFillTx/>
                <a:latin typeface="Aptos"/>
              </a:rPr>
              <a:t>Booking Conflicts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5" name="Text 27"/>
          <p:cNvSpPr/>
          <p:nvPr/>
        </p:nvSpPr>
        <p:spPr>
          <a:xfrm>
            <a:off x="5760030" y="1892880"/>
            <a:ext cx="243147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 dirty="0">
                <a:solidFill>
                  <a:srgbClr val="23303D"/>
                </a:solidFill>
                <a:effectLst/>
                <a:uFillTx/>
                <a:latin typeface="Aptos"/>
              </a:rPr>
              <a:t>Availability is not updated consistently, so reservations can overlap.</a:t>
            </a:r>
            <a:endParaRPr lang="en-US" sz="155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6" name="Shape 28"/>
          <p:cNvSpPr/>
          <p:nvPr/>
        </p:nvSpPr>
        <p:spPr>
          <a:xfrm>
            <a:off x="8613720" y="1188030"/>
            <a:ext cx="2742840" cy="1755360"/>
          </a:xfrm>
          <a:prstGeom prst="roundRect">
            <a:avLst>
              <a:gd name="adj" fmla="val 3125"/>
            </a:avLst>
          </a:prstGeom>
          <a:solidFill>
            <a:srgbClr val="FFF4D6"/>
          </a:solidFill>
          <a:ln w="12600">
            <a:solidFill>
              <a:srgbClr val="F4A261"/>
            </a:solidFill>
            <a:round/>
          </a:ln>
          <a:effectLst>
            <a:outerShdw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7" name="Shape 29"/>
          <p:cNvSpPr/>
          <p:nvPr/>
        </p:nvSpPr>
        <p:spPr>
          <a:xfrm>
            <a:off x="8796600" y="1389960"/>
            <a:ext cx="383760" cy="383760"/>
          </a:xfrm>
          <a:prstGeom prst="ellipse">
            <a:avLst/>
          </a:prstGeom>
          <a:solidFill>
            <a:srgbClr val="F4A261"/>
          </a:solidFill>
          <a:ln w="12600">
            <a:solidFill>
              <a:srgbClr val="F4A2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8" name="Text 30"/>
          <p:cNvSpPr/>
          <p:nvPr/>
        </p:nvSpPr>
        <p:spPr>
          <a:xfrm>
            <a:off x="8796600" y="1520715"/>
            <a:ext cx="3837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9" name="Text 31"/>
          <p:cNvSpPr/>
          <p:nvPr/>
        </p:nvSpPr>
        <p:spPr>
          <a:xfrm>
            <a:off x="9308520" y="1466160"/>
            <a:ext cx="17827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dirty="0">
                <a:solidFill>
                  <a:srgbClr val="23303D"/>
                </a:solidFill>
                <a:effectLst/>
                <a:uFillTx/>
                <a:latin typeface="Aptos"/>
              </a:rPr>
              <a:t>Slow Front Desk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0" name="Text 32"/>
          <p:cNvSpPr/>
          <p:nvPr/>
        </p:nvSpPr>
        <p:spPr>
          <a:xfrm>
            <a:off x="8814960" y="1892880"/>
            <a:ext cx="23403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Staff spend time searching and re-entering the same information.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1" name="Shape 33"/>
          <p:cNvSpPr/>
          <p:nvPr/>
        </p:nvSpPr>
        <p:spPr>
          <a:xfrm>
            <a:off x="5577840" y="3337560"/>
            <a:ext cx="2742840" cy="1755360"/>
          </a:xfrm>
          <a:prstGeom prst="roundRect">
            <a:avLst>
              <a:gd name="adj" fmla="val 3125"/>
            </a:avLst>
          </a:prstGeom>
          <a:solidFill>
            <a:srgbClr val="EAF2F8"/>
          </a:solidFill>
          <a:ln w="12600">
            <a:solidFill>
              <a:srgbClr val="2F6FA3"/>
            </a:solidFill>
            <a:round/>
          </a:ln>
          <a:effectLst>
            <a:outerShdw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2" name="Shape 34"/>
          <p:cNvSpPr/>
          <p:nvPr/>
        </p:nvSpPr>
        <p:spPr>
          <a:xfrm>
            <a:off x="5760720" y="3520440"/>
            <a:ext cx="383760" cy="383760"/>
          </a:xfrm>
          <a:prstGeom prst="ellipse">
            <a:avLst/>
          </a:prstGeom>
          <a:solidFill>
            <a:srgbClr val="2F6FA3"/>
          </a:solidFill>
          <a:ln w="12600">
            <a:solidFill>
              <a:srgbClr val="2F6FA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3" name="Text 35"/>
          <p:cNvSpPr/>
          <p:nvPr/>
        </p:nvSpPr>
        <p:spPr>
          <a:xfrm>
            <a:off x="5760720" y="3641670"/>
            <a:ext cx="3837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4" name="Text 36"/>
          <p:cNvSpPr/>
          <p:nvPr/>
        </p:nvSpPr>
        <p:spPr>
          <a:xfrm>
            <a:off x="6215490" y="3587115"/>
            <a:ext cx="2340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dirty="0">
                <a:solidFill>
                  <a:srgbClr val="23303D"/>
                </a:solidFill>
                <a:effectLst/>
                <a:uFillTx/>
                <a:latin typeface="Aptos"/>
              </a:rPr>
              <a:t>Inconsistent Records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5" name="Text 37"/>
          <p:cNvSpPr/>
          <p:nvPr/>
        </p:nvSpPr>
        <p:spPr>
          <a:xfrm>
            <a:off x="5779080" y="4023360"/>
            <a:ext cx="23403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Guest, room and payment information can differ between tools.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6" name="Shape 38"/>
          <p:cNvSpPr/>
          <p:nvPr/>
        </p:nvSpPr>
        <p:spPr>
          <a:xfrm>
            <a:off x="8613720" y="3337560"/>
            <a:ext cx="2742840" cy="1755360"/>
          </a:xfrm>
          <a:prstGeom prst="roundRect">
            <a:avLst>
              <a:gd name="adj" fmla="val 3125"/>
            </a:avLst>
          </a:prstGeom>
          <a:solidFill>
            <a:srgbClr val="EAF5F1"/>
          </a:solidFill>
          <a:ln w="12600">
            <a:solidFill>
              <a:srgbClr val="2A9D8F"/>
            </a:solidFill>
            <a:round/>
          </a:ln>
          <a:effectLst>
            <a:outerShdw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7" name="Shape 39"/>
          <p:cNvSpPr/>
          <p:nvPr/>
        </p:nvSpPr>
        <p:spPr>
          <a:xfrm>
            <a:off x="8796600" y="3510915"/>
            <a:ext cx="383760" cy="383760"/>
          </a:xfrm>
          <a:prstGeom prst="ellipse">
            <a:avLst/>
          </a:prstGeom>
          <a:solidFill>
            <a:srgbClr val="2A9D8F"/>
          </a:solidFill>
          <a:ln w="12600">
            <a:solidFill>
              <a:srgbClr val="2A9D8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8" name="Text 40"/>
          <p:cNvSpPr/>
          <p:nvPr/>
        </p:nvSpPr>
        <p:spPr>
          <a:xfrm>
            <a:off x="8796600" y="3641670"/>
            <a:ext cx="3837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9" name="Text 41"/>
          <p:cNvSpPr/>
          <p:nvPr/>
        </p:nvSpPr>
        <p:spPr>
          <a:xfrm>
            <a:off x="9308520" y="3587115"/>
            <a:ext cx="17827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dirty="0">
                <a:solidFill>
                  <a:srgbClr val="23303D"/>
                </a:solidFill>
                <a:effectLst/>
                <a:uFillTx/>
                <a:latin typeface="Aptos"/>
              </a:rPr>
              <a:t>Limited Insight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0" name="Text 42"/>
          <p:cNvSpPr/>
          <p:nvPr/>
        </p:nvSpPr>
        <p:spPr>
          <a:xfrm>
            <a:off x="8814960" y="4023360"/>
            <a:ext cx="23403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Occupancy, demand and financial performance require manual reporting.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1" name="Shape 43"/>
          <p:cNvSpPr/>
          <p:nvPr/>
        </p:nvSpPr>
        <p:spPr>
          <a:xfrm>
            <a:off x="5577840" y="5440680"/>
            <a:ext cx="5778720" cy="383760"/>
          </a:xfrm>
          <a:prstGeom prst="roundRect">
            <a:avLst>
              <a:gd name="adj" fmla="val 9524"/>
            </a:avLst>
          </a:prstGeom>
          <a:solidFill>
            <a:srgbClr val="163A5F"/>
          </a:solidFill>
          <a:ln w="12600">
            <a:solidFill>
              <a:srgbClr val="16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2" name="Text 44"/>
          <p:cNvSpPr/>
          <p:nvPr/>
        </p:nvSpPr>
        <p:spPr>
          <a:xfrm>
            <a:off x="5715000" y="5513760"/>
            <a:ext cx="55044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Core problem: the hotel has no single, reliable source of reservation-related information.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3" name="PlaceHolder 1"/>
          <p:cNvSpPr>
            <a:spLocks noGrp="1"/>
          </p:cNvSpPr>
          <p:nvPr>
            <p:ph type="sldNum" idx="6"/>
          </p:nvPr>
        </p:nvSpPr>
        <p:spPr>
          <a:xfrm>
            <a:off x="11722680" y="651960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7A8793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2DC87EE-1F8A-4D38-B1B4-B231336EBD2E}" type="slidenum">
              <a:rPr lang="en-US" sz="900" b="0" u="none" strike="noStrike">
                <a:solidFill>
                  <a:srgbClr val="7A8793"/>
                </a:solidFill>
                <a:effectLst/>
                <a:uFillTx/>
                <a:latin typeface="Aptos"/>
                <a:ea typeface="Aptos"/>
              </a:rPr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" name="Shape 7"/>
          <p:cNvSpPr/>
          <p:nvPr/>
        </p:nvSpPr>
        <p:spPr>
          <a:xfrm flipV="1">
            <a:off x="2286000" y="2892645"/>
            <a:ext cx="320039" cy="0"/>
          </a:xfrm>
          <a:prstGeom prst="line">
            <a:avLst/>
          </a:prstGeom>
          <a:ln w="31680">
            <a:solidFill>
              <a:srgbClr val="AAB8C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" name="Shape 7"/>
          <p:cNvSpPr/>
          <p:nvPr/>
        </p:nvSpPr>
        <p:spPr>
          <a:xfrm flipV="1">
            <a:off x="2286000" y="3626400"/>
            <a:ext cx="320039" cy="0"/>
          </a:xfrm>
          <a:prstGeom prst="line">
            <a:avLst/>
          </a:prstGeom>
          <a:ln w="31680">
            <a:solidFill>
              <a:srgbClr val="AAB8C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" name="Shape 7"/>
          <p:cNvSpPr/>
          <p:nvPr/>
        </p:nvSpPr>
        <p:spPr>
          <a:xfrm flipV="1">
            <a:off x="2286001" y="4367085"/>
            <a:ext cx="320039" cy="0"/>
          </a:xfrm>
          <a:prstGeom prst="line">
            <a:avLst/>
          </a:prstGeom>
          <a:ln w="31680">
            <a:solidFill>
              <a:srgbClr val="AAB8C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0"/>
          <p:cNvSpPr/>
          <p:nvPr/>
        </p:nvSpPr>
        <p:spPr>
          <a:xfrm>
            <a:off x="530280" y="311040"/>
            <a:ext cx="110638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163A5F"/>
                </a:solidFill>
                <a:effectLst/>
                <a:uFillTx/>
                <a:latin typeface="Aptos Display"/>
                <a:ea typeface="Aptos Display"/>
              </a:rPr>
              <a:t>Existing Solutions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5" name="Text 1"/>
          <p:cNvSpPr/>
          <p:nvPr/>
        </p:nvSpPr>
        <p:spPr>
          <a:xfrm>
            <a:off x="548640" y="74988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86979"/>
                </a:solidFill>
                <a:effectLst/>
                <a:uFillTx/>
                <a:latin typeface="Aptos"/>
              </a:rPr>
              <a:t>Five commercial PMS products were reviewed to identify common capabilities and limitations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6" name="Shape 2"/>
          <p:cNvSpPr/>
          <p:nvPr/>
        </p:nvSpPr>
        <p:spPr>
          <a:xfrm>
            <a:off x="567000" y="1234440"/>
            <a:ext cx="2080800" cy="3245760"/>
          </a:xfrm>
          <a:prstGeom prst="roundRect">
            <a:avLst>
              <a:gd name="adj" fmla="val 2636"/>
            </a:avLst>
          </a:prstGeom>
          <a:solidFill>
            <a:srgbClr val="FFFFFF"/>
          </a:solidFill>
          <a:ln w="12600">
            <a:solidFill>
              <a:srgbClr val="D5DEE6"/>
            </a:solidFill>
            <a:round/>
          </a:ln>
          <a:effectLst>
            <a:outerShdw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7" name="Shape 3"/>
          <p:cNvSpPr/>
          <p:nvPr/>
        </p:nvSpPr>
        <p:spPr>
          <a:xfrm>
            <a:off x="567000" y="1234440"/>
            <a:ext cx="2080800" cy="109440"/>
          </a:xfrm>
          <a:prstGeom prst="rect">
            <a:avLst/>
          </a:prstGeom>
          <a:solidFill>
            <a:srgbClr val="163A5F"/>
          </a:solidFill>
          <a:ln w="12600">
            <a:solidFill>
              <a:srgbClr val="16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8" name="Text 4"/>
          <p:cNvSpPr/>
          <p:nvPr/>
        </p:nvSpPr>
        <p:spPr>
          <a:xfrm>
            <a:off x="731520" y="1508760"/>
            <a:ext cx="17517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63A5F"/>
                </a:solidFill>
                <a:effectLst/>
                <a:uFillTx/>
                <a:latin typeface="Aptos"/>
              </a:rPr>
              <a:t>Oracle OPERA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9" name="Shape 5"/>
          <p:cNvSpPr/>
          <p:nvPr/>
        </p:nvSpPr>
        <p:spPr>
          <a:xfrm>
            <a:off x="795600" y="2212920"/>
            <a:ext cx="1623600" cy="347040"/>
          </a:xfrm>
          <a:prstGeom prst="roundRect">
            <a:avLst>
              <a:gd name="adj" fmla="val 21053"/>
            </a:avLst>
          </a:prstGeom>
          <a:solidFill>
            <a:srgbClr val="EAF5F1"/>
          </a:solidFill>
          <a:ln w="12600">
            <a:solidFill>
              <a:srgbClr val="EAF5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0" name="Text 6"/>
          <p:cNvSpPr/>
          <p:nvPr/>
        </p:nvSpPr>
        <p:spPr>
          <a:xfrm>
            <a:off x="841320" y="2272320"/>
            <a:ext cx="15321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5C9A7A"/>
                </a:solidFill>
                <a:effectLst/>
                <a:uFillTx/>
                <a:latin typeface="Aptos"/>
              </a:rPr>
              <a:t>STRENGTH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1" name="Text 7"/>
          <p:cNvSpPr/>
          <p:nvPr/>
        </p:nvSpPr>
        <p:spPr>
          <a:xfrm>
            <a:off x="731520" y="2670120"/>
            <a:ext cx="17517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Complete enterprise PMS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2" name="Shape 8"/>
          <p:cNvSpPr/>
          <p:nvPr/>
        </p:nvSpPr>
        <p:spPr>
          <a:xfrm>
            <a:off x="795600" y="3346560"/>
            <a:ext cx="1623600" cy="347040"/>
          </a:xfrm>
          <a:prstGeom prst="roundRect">
            <a:avLst>
              <a:gd name="adj" fmla="val 21053"/>
            </a:avLst>
          </a:prstGeom>
          <a:solidFill>
            <a:srgbClr val="FFF4D6"/>
          </a:solidFill>
          <a:ln w="12600">
            <a:solidFill>
              <a:srgbClr val="FFF4D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3" name="Text 9"/>
          <p:cNvSpPr/>
          <p:nvPr/>
        </p:nvSpPr>
        <p:spPr>
          <a:xfrm>
            <a:off x="841320" y="3406320"/>
            <a:ext cx="15321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9B6A00"/>
                </a:solidFill>
                <a:effectLst/>
                <a:uFillTx/>
                <a:latin typeface="Aptos"/>
              </a:rPr>
              <a:t>PROJECT LESSON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4" name="Text 10"/>
          <p:cNvSpPr/>
          <p:nvPr/>
        </p:nvSpPr>
        <p:spPr>
          <a:xfrm>
            <a:off x="731520" y="3822120"/>
            <a:ext cx="17517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Enterprise reference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5" name="Shape 11"/>
          <p:cNvSpPr/>
          <p:nvPr/>
        </p:nvSpPr>
        <p:spPr>
          <a:xfrm>
            <a:off x="2812680" y="1234440"/>
            <a:ext cx="2080800" cy="3245760"/>
          </a:xfrm>
          <a:prstGeom prst="roundRect">
            <a:avLst>
              <a:gd name="adj" fmla="val 2636"/>
            </a:avLst>
          </a:prstGeom>
          <a:solidFill>
            <a:srgbClr val="FFFFFF"/>
          </a:solidFill>
          <a:ln w="12600">
            <a:solidFill>
              <a:srgbClr val="D5DEE6"/>
            </a:solidFill>
            <a:round/>
          </a:ln>
          <a:effectLst>
            <a:outerShdw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6" name="Shape 12"/>
          <p:cNvSpPr/>
          <p:nvPr/>
        </p:nvSpPr>
        <p:spPr>
          <a:xfrm>
            <a:off x="2812680" y="1234440"/>
            <a:ext cx="2080800" cy="109440"/>
          </a:xfrm>
          <a:prstGeom prst="rect">
            <a:avLst/>
          </a:prstGeom>
          <a:solidFill>
            <a:srgbClr val="2F6FA3"/>
          </a:solidFill>
          <a:ln w="12600">
            <a:solidFill>
              <a:srgbClr val="2F6FA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7" name="Text 13"/>
          <p:cNvSpPr/>
          <p:nvPr/>
        </p:nvSpPr>
        <p:spPr>
          <a:xfrm>
            <a:off x="2977200" y="1508760"/>
            <a:ext cx="17517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63A5F"/>
                </a:solidFill>
                <a:effectLst/>
                <a:uFillTx/>
                <a:latin typeface="Aptos"/>
              </a:rPr>
              <a:t>Cloudbeds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8" name="Shape 14"/>
          <p:cNvSpPr/>
          <p:nvPr/>
        </p:nvSpPr>
        <p:spPr>
          <a:xfrm>
            <a:off x="3041280" y="2212920"/>
            <a:ext cx="1623600" cy="347040"/>
          </a:xfrm>
          <a:prstGeom prst="roundRect">
            <a:avLst>
              <a:gd name="adj" fmla="val 21053"/>
            </a:avLst>
          </a:prstGeom>
          <a:solidFill>
            <a:srgbClr val="EAF5F1"/>
          </a:solidFill>
          <a:ln w="12600">
            <a:solidFill>
              <a:srgbClr val="EAF5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9" name="Text 15"/>
          <p:cNvSpPr/>
          <p:nvPr/>
        </p:nvSpPr>
        <p:spPr>
          <a:xfrm>
            <a:off x="3087000" y="2272320"/>
            <a:ext cx="15321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5C9A7A"/>
                </a:solidFill>
                <a:effectLst/>
                <a:uFillTx/>
                <a:latin typeface="Aptos"/>
              </a:rPr>
              <a:t>STRENGTH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0" name="Text 16"/>
          <p:cNvSpPr/>
          <p:nvPr/>
        </p:nvSpPr>
        <p:spPr>
          <a:xfrm>
            <a:off x="2977200" y="2670120"/>
            <a:ext cx="17517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Integrated cloud operations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1" name="Shape 17"/>
          <p:cNvSpPr/>
          <p:nvPr/>
        </p:nvSpPr>
        <p:spPr>
          <a:xfrm>
            <a:off x="3041280" y="3346560"/>
            <a:ext cx="1623600" cy="347040"/>
          </a:xfrm>
          <a:prstGeom prst="roundRect">
            <a:avLst>
              <a:gd name="adj" fmla="val 21053"/>
            </a:avLst>
          </a:prstGeom>
          <a:solidFill>
            <a:srgbClr val="FFF4D6"/>
          </a:solidFill>
          <a:ln w="12600">
            <a:solidFill>
              <a:srgbClr val="FFF4D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2" name="Text 18"/>
          <p:cNvSpPr/>
          <p:nvPr/>
        </p:nvSpPr>
        <p:spPr>
          <a:xfrm>
            <a:off x="3087000" y="3406320"/>
            <a:ext cx="15321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9B6A00"/>
                </a:solidFill>
                <a:effectLst/>
                <a:uFillTx/>
                <a:latin typeface="Aptos"/>
              </a:rPr>
              <a:t>PROJECT LESSON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3" name="Text 19"/>
          <p:cNvSpPr/>
          <p:nvPr/>
        </p:nvSpPr>
        <p:spPr>
          <a:xfrm>
            <a:off x="2977200" y="3822120"/>
            <a:ext cx="17517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Workflow reference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4" name="Shape 20"/>
          <p:cNvSpPr/>
          <p:nvPr/>
        </p:nvSpPr>
        <p:spPr>
          <a:xfrm>
            <a:off x="5058360" y="1234440"/>
            <a:ext cx="2080800" cy="3245760"/>
          </a:xfrm>
          <a:prstGeom prst="roundRect">
            <a:avLst>
              <a:gd name="adj" fmla="val 2636"/>
            </a:avLst>
          </a:prstGeom>
          <a:solidFill>
            <a:srgbClr val="FFFFFF"/>
          </a:solidFill>
          <a:ln w="12600">
            <a:solidFill>
              <a:srgbClr val="D5DEE6"/>
            </a:solidFill>
            <a:round/>
          </a:ln>
          <a:effectLst>
            <a:outerShdw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5" name="Shape 21"/>
          <p:cNvSpPr/>
          <p:nvPr/>
        </p:nvSpPr>
        <p:spPr>
          <a:xfrm>
            <a:off x="5058360" y="1234440"/>
            <a:ext cx="2080800" cy="109440"/>
          </a:xfrm>
          <a:prstGeom prst="rect">
            <a:avLst/>
          </a:prstGeom>
          <a:solidFill>
            <a:srgbClr val="2A9D8F"/>
          </a:solidFill>
          <a:ln w="12600">
            <a:solidFill>
              <a:srgbClr val="2A9D8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6" name="Text 22"/>
          <p:cNvSpPr/>
          <p:nvPr/>
        </p:nvSpPr>
        <p:spPr>
          <a:xfrm>
            <a:off x="5222880" y="1508760"/>
            <a:ext cx="17517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63A5F"/>
                </a:solidFill>
                <a:effectLst/>
                <a:uFillTx/>
                <a:latin typeface="Aptos"/>
              </a:rPr>
              <a:t>Mews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7" name="Shape 23"/>
          <p:cNvSpPr/>
          <p:nvPr/>
        </p:nvSpPr>
        <p:spPr>
          <a:xfrm>
            <a:off x="5286960" y="2212920"/>
            <a:ext cx="1623600" cy="347040"/>
          </a:xfrm>
          <a:prstGeom prst="roundRect">
            <a:avLst>
              <a:gd name="adj" fmla="val 21053"/>
            </a:avLst>
          </a:prstGeom>
          <a:solidFill>
            <a:srgbClr val="EAF5F1"/>
          </a:solidFill>
          <a:ln w="12600">
            <a:solidFill>
              <a:srgbClr val="EAF5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8" name="Text 24"/>
          <p:cNvSpPr/>
          <p:nvPr/>
        </p:nvSpPr>
        <p:spPr>
          <a:xfrm>
            <a:off x="5332680" y="2272320"/>
            <a:ext cx="15321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5C9A7A"/>
                </a:solidFill>
                <a:effectLst/>
                <a:uFillTx/>
                <a:latin typeface="Aptos"/>
              </a:rPr>
              <a:t>STRENGTH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9" name="Text 25"/>
          <p:cNvSpPr/>
          <p:nvPr/>
        </p:nvSpPr>
        <p:spPr>
          <a:xfrm>
            <a:off x="5222880" y="2670120"/>
            <a:ext cx="17517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Automation + open APIs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0" name="Shape 26"/>
          <p:cNvSpPr/>
          <p:nvPr/>
        </p:nvSpPr>
        <p:spPr>
          <a:xfrm>
            <a:off x="5286960" y="3346560"/>
            <a:ext cx="1623600" cy="347040"/>
          </a:xfrm>
          <a:prstGeom prst="roundRect">
            <a:avLst>
              <a:gd name="adj" fmla="val 21053"/>
            </a:avLst>
          </a:prstGeom>
          <a:solidFill>
            <a:srgbClr val="FFF4D6"/>
          </a:solidFill>
          <a:ln w="12600">
            <a:solidFill>
              <a:srgbClr val="FFF4D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1" name="Text 27"/>
          <p:cNvSpPr/>
          <p:nvPr/>
        </p:nvSpPr>
        <p:spPr>
          <a:xfrm>
            <a:off x="5332680" y="3406320"/>
            <a:ext cx="15321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9B6A00"/>
                </a:solidFill>
                <a:effectLst/>
                <a:uFillTx/>
                <a:latin typeface="Aptos"/>
              </a:rPr>
              <a:t>PROJECT LESSON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2" name="Text 28"/>
          <p:cNvSpPr/>
          <p:nvPr/>
        </p:nvSpPr>
        <p:spPr>
          <a:xfrm>
            <a:off x="5222880" y="3822120"/>
            <a:ext cx="17517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Architecture reference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3" name="Shape 29"/>
          <p:cNvSpPr/>
          <p:nvPr/>
        </p:nvSpPr>
        <p:spPr>
          <a:xfrm>
            <a:off x="7304400" y="1234440"/>
            <a:ext cx="2080800" cy="3245760"/>
          </a:xfrm>
          <a:prstGeom prst="roundRect">
            <a:avLst>
              <a:gd name="adj" fmla="val 2636"/>
            </a:avLst>
          </a:prstGeom>
          <a:solidFill>
            <a:srgbClr val="FFFFFF"/>
          </a:solidFill>
          <a:ln w="12600">
            <a:solidFill>
              <a:srgbClr val="D5DEE6"/>
            </a:solidFill>
            <a:round/>
          </a:ln>
          <a:effectLst>
            <a:outerShdw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4" name="Shape 30"/>
          <p:cNvSpPr/>
          <p:nvPr/>
        </p:nvSpPr>
        <p:spPr>
          <a:xfrm>
            <a:off x="7304400" y="1234440"/>
            <a:ext cx="2080800" cy="109440"/>
          </a:xfrm>
          <a:prstGeom prst="rect">
            <a:avLst/>
          </a:prstGeom>
          <a:solidFill>
            <a:srgbClr val="5C9A7A"/>
          </a:solidFill>
          <a:ln w="12600">
            <a:solidFill>
              <a:srgbClr val="5C9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5" name="Text 31"/>
          <p:cNvSpPr/>
          <p:nvPr/>
        </p:nvSpPr>
        <p:spPr>
          <a:xfrm>
            <a:off x="7468920" y="1508760"/>
            <a:ext cx="17517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63A5F"/>
                </a:solidFill>
                <a:effectLst/>
                <a:uFillTx/>
                <a:latin typeface="Aptos"/>
              </a:rPr>
              <a:t>Hotelogix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6" name="Shape 32"/>
          <p:cNvSpPr/>
          <p:nvPr/>
        </p:nvSpPr>
        <p:spPr>
          <a:xfrm>
            <a:off x="7533000" y="2212920"/>
            <a:ext cx="1623600" cy="347040"/>
          </a:xfrm>
          <a:prstGeom prst="roundRect">
            <a:avLst>
              <a:gd name="adj" fmla="val 21053"/>
            </a:avLst>
          </a:prstGeom>
          <a:solidFill>
            <a:srgbClr val="EAF5F1"/>
          </a:solidFill>
          <a:ln w="12600">
            <a:solidFill>
              <a:srgbClr val="EAF5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7" name="Text 33"/>
          <p:cNvSpPr/>
          <p:nvPr/>
        </p:nvSpPr>
        <p:spPr>
          <a:xfrm>
            <a:off x="7578720" y="2272320"/>
            <a:ext cx="15321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5C9A7A"/>
                </a:solidFill>
                <a:effectLst/>
                <a:uFillTx/>
                <a:latin typeface="Aptos"/>
              </a:rPr>
              <a:t>STRENGTH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8" name="Text 34"/>
          <p:cNvSpPr/>
          <p:nvPr/>
        </p:nvSpPr>
        <p:spPr>
          <a:xfrm>
            <a:off x="7468920" y="2670120"/>
            <a:ext cx="17517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Strong front-desk workflow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9" name="Shape 35"/>
          <p:cNvSpPr/>
          <p:nvPr/>
        </p:nvSpPr>
        <p:spPr>
          <a:xfrm>
            <a:off x="7533000" y="3346560"/>
            <a:ext cx="1623600" cy="347040"/>
          </a:xfrm>
          <a:prstGeom prst="roundRect">
            <a:avLst>
              <a:gd name="adj" fmla="val 21053"/>
            </a:avLst>
          </a:prstGeom>
          <a:solidFill>
            <a:srgbClr val="FFF4D6"/>
          </a:solidFill>
          <a:ln w="12600">
            <a:solidFill>
              <a:srgbClr val="FFF4D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0" name="Text 36"/>
          <p:cNvSpPr/>
          <p:nvPr/>
        </p:nvSpPr>
        <p:spPr>
          <a:xfrm>
            <a:off x="7578720" y="3406320"/>
            <a:ext cx="15321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9B6A00"/>
                </a:solidFill>
                <a:effectLst/>
                <a:uFillTx/>
                <a:latin typeface="Aptos"/>
              </a:rPr>
              <a:t>PROJECT LESSON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1" name="Text 37"/>
          <p:cNvSpPr/>
          <p:nvPr/>
        </p:nvSpPr>
        <p:spPr>
          <a:xfrm>
            <a:off x="7468920" y="3822120"/>
            <a:ext cx="17517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Medium-hotel reference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2" name="Shape 38"/>
          <p:cNvSpPr/>
          <p:nvPr/>
        </p:nvSpPr>
        <p:spPr>
          <a:xfrm>
            <a:off x="9550080" y="1234440"/>
            <a:ext cx="2080800" cy="3245760"/>
          </a:xfrm>
          <a:prstGeom prst="roundRect">
            <a:avLst>
              <a:gd name="adj" fmla="val 2636"/>
            </a:avLst>
          </a:prstGeom>
          <a:solidFill>
            <a:srgbClr val="FFFFFF"/>
          </a:solidFill>
          <a:ln w="12600">
            <a:solidFill>
              <a:srgbClr val="D5DEE6"/>
            </a:solidFill>
            <a:round/>
          </a:ln>
          <a:effectLst>
            <a:outerShdw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3" name="Shape 39"/>
          <p:cNvSpPr/>
          <p:nvPr/>
        </p:nvSpPr>
        <p:spPr>
          <a:xfrm>
            <a:off x="9550080" y="1234440"/>
            <a:ext cx="2080800" cy="109440"/>
          </a:xfrm>
          <a:prstGeom prst="rect">
            <a:avLst/>
          </a:prstGeom>
          <a:solidFill>
            <a:srgbClr val="F4A261"/>
          </a:solidFill>
          <a:ln w="12600">
            <a:solidFill>
              <a:srgbClr val="F4A2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4" name="Text 40"/>
          <p:cNvSpPr/>
          <p:nvPr/>
        </p:nvSpPr>
        <p:spPr>
          <a:xfrm>
            <a:off x="9714600" y="1508760"/>
            <a:ext cx="17517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63A5F"/>
                </a:solidFill>
                <a:effectLst/>
                <a:uFillTx/>
                <a:latin typeface="Aptos"/>
              </a:rPr>
              <a:t>Little Hotelier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5" name="Shape 41"/>
          <p:cNvSpPr/>
          <p:nvPr/>
        </p:nvSpPr>
        <p:spPr>
          <a:xfrm>
            <a:off x="9778680" y="2212920"/>
            <a:ext cx="1623600" cy="347040"/>
          </a:xfrm>
          <a:prstGeom prst="roundRect">
            <a:avLst>
              <a:gd name="adj" fmla="val 21053"/>
            </a:avLst>
          </a:prstGeom>
          <a:solidFill>
            <a:srgbClr val="EAF5F1"/>
          </a:solidFill>
          <a:ln w="12600">
            <a:solidFill>
              <a:srgbClr val="EAF5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6" name="Text 42"/>
          <p:cNvSpPr/>
          <p:nvPr/>
        </p:nvSpPr>
        <p:spPr>
          <a:xfrm>
            <a:off x="9824400" y="2272320"/>
            <a:ext cx="15321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5C9A7A"/>
                </a:solidFill>
                <a:effectLst/>
                <a:uFillTx/>
                <a:latin typeface="Aptos"/>
              </a:rPr>
              <a:t>STRENGTH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7" name="Text 43"/>
          <p:cNvSpPr/>
          <p:nvPr/>
        </p:nvSpPr>
        <p:spPr>
          <a:xfrm>
            <a:off x="9714600" y="2670120"/>
            <a:ext cx="17517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Simple small-property workflow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8" name="Shape 44"/>
          <p:cNvSpPr/>
          <p:nvPr/>
        </p:nvSpPr>
        <p:spPr>
          <a:xfrm>
            <a:off x="9778680" y="3346560"/>
            <a:ext cx="1623600" cy="347040"/>
          </a:xfrm>
          <a:prstGeom prst="roundRect">
            <a:avLst>
              <a:gd name="adj" fmla="val 21053"/>
            </a:avLst>
          </a:prstGeom>
          <a:solidFill>
            <a:srgbClr val="FFF4D6"/>
          </a:solidFill>
          <a:ln w="12600">
            <a:solidFill>
              <a:srgbClr val="FFF4D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9" name="Text 45"/>
          <p:cNvSpPr/>
          <p:nvPr/>
        </p:nvSpPr>
        <p:spPr>
          <a:xfrm>
            <a:off x="9824400" y="3406320"/>
            <a:ext cx="15321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9B6A00"/>
                </a:solidFill>
                <a:effectLst/>
                <a:uFillTx/>
                <a:latin typeface="Aptos"/>
              </a:rPr>
              <a:t>PROJECT LESSON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50" name="Text 46"/>
          <p:cNvSpPr/>
          <p:nvPr/>
        </p:nvSpPr>
        <p:spPr>
          <a:xfrm>
            <a:off x="9714600" y="3822120"/>
            <a:ext cx="17517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Usability reference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51" name="Shape 47"/>
          <p:cNvSpPr/>
          <p:nvPr/>
        </p:nvSpPr>
        <p:spPr>
          <a:xfrm>
            <a:off x="567000" y="4736520"/>
            <a:ext cx="11045520" cy="1343880"/>
          </a:xfrm>
          <a:prstGeom prst="roundRect">
            <a:avLst>
              <a:gd name="adj" fmla="val 4082"/>
            </a:avLst>
          </a:prstGeom>
          <a:solidFill>
            <a:srgbClr val="F0F5F8"/>
          </a:solidFill>
          <a:ln w="12600">
            <a:solidFill>
              <a:srgbClr val="D3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52" name="Text 48"/>
          <p:cNvSpPr/>
          <p:nvPr/>
        </p:nvSpPr>
        <p:spPr>
          <a:xfrm>
            <a:off x="841320" y="4983480"/>
            <a:ext cx="29257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63A5F"/>
                </a:solidFill>
                <a:effectLst/>
                <a:uFillTx/>
                <a:latin typeface="Aptos"/>
              </a:rPr>
              <a:t>Common capabilities identified across the market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53" name="Shape 49"/>
          <p:cNvSpPr/>
          <p:nvPr/>
        </p:nvSpPr>
        <p:spPr>
          <a:xfrm>
            <a:off x="3858840" y="4965120"/>
            <a:ext cx="1298160" cy="347040"/>
          </a:xfrm>
          <a:prstGeom prst="roundRect">
            <a:avLst>
              <a:gd name="adj" fmla="val 21053"/>
            </a:avLst>
          </a:prstGeom>
          <a:solidFill>
            <a:srgbClr val="EAF2F8"/>
          </a:solidFill>
          <a:ln w="12600">
            <a:solidFill>
              <a:srgbClr val="EAF2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54" name="Text 50"/>
          <p:cNvSpPr/>
          <p:nvPr/>
        </p:nvSpPr>
        <p:spPr>
          <a:xfrm>
            <a:off x="3904560" y="5024520"/>
            <a:ext cx="1206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Availability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55" name="Shape 51"/>
          <p:cNvSpPr/>
          <p:nvPr/>
        </p:nvSpPr>
        <p:spPr>
          <a:xfrm>
            <a:off x="5303520" y="4965120"/>
            <a:ext cx="1298160" cy="347040"/>
          </a:xfrm>
          <a:prstGeom prst="roundRect">
            <a:avLst>
              <a:gd name="adj" fmla="val 21053"/>
            </a:avLst>
          </a:prstGeom>
          <a:solidFill>
            <a:srgbClr val="EAF5F1"/>
          </a:solidFill>
          <a:ln w="12600">
            <a:solidFill>
              <a:srgbClr val="EAF5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56" name="Text 52"/>
          <p:cNvSpPr/>
          <p:nvPr/>
        </p:nvSpPr>
        <p:spPr>
          <a:xfrm>
            <a:off x="5349240" y="5024520"/>
            <a:ext cx="1206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Reservations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57" name="Shape 53"/>
          <p:cNvSpPr/>
          <p:nvPr/>
        </p:nvSpPr>
        <p:spPr>
          <a:xfrm>
            <a:off x="6748200" y="4965120"/>
            <a:ext cx="1298160" cy="347040"/>
          </a:xfrm>
          <a:prstGeom prst="roundRect">
            <a:avLst>
              <a:gd name="adj" fmla="val 21053"/>
            </a:avLst>
          </a:prstGeom>
          <a:solidFill>
            <a:srgbClr val="FFF4D6"/>
          </a:solidFill>
          <a:ln w="12600">
            <a:solidFill>
              <a:srgbClr val="FFF4D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58" name="Text 54"/>
          <p:cNvSpPr/>
          <p:nvPr/>
        </p:nvSpPr>
        <p:spPr>
          <a:xfrm>
            <a:off x="6793920" y="5024520"/>
            <a:ext cx="1206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Guest Records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59" name="Shape 55"/>
          <p:cNvSpPr/>
          <p:nvPr/>
        </p:nvSpPr>
        <p:spPr>
          <a:xfrm>
            <a:off x="8192880" y="4965120"/>
            <a:ext cx="1298160" cy="347040"/>
          </a:xfrm>
          <a:prstGeom prst="roundRect">
            <a:avLst>
              <a:gd name="adj" fmla="val 21053"/>
            </a:avLst>
          </a:prstGeom>
          <a:solidFill>
            <a:srgbClr val="FCECE8"/>
          </a:solidFill>
          <a:ln w="12600">
            <a:solidFill>
              <a:srgbClr val="FCEC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60" name="Text 56"/>
          <p:cNvSpPr/>
          <p:nvPr/>
        </p:nvSpPr>
        <p:spPr>
          <a:xfrm>
            <a:off x="8238600" y="5024520"/>
            <a:ext cx="1206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Payments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61" name="Shape 57"/>
          <p:cNvSpPr/>
          <p:nvPr/>
        </p:nvSpPr>
        <p:spPr>
          <a:xfrm>
            <a:off x="9637920" y="4965120"/>
            <a:ext cx="1298160" cy="347040"/>
          </a:xfrm>
          <a:prstGeom prst="roundRect">
            <a:avLst>
              <a:gd name="adj" fmla="val 21053"/>
            </a:avLst>
          </a:prstGeom>
          <a:solidFill>
            <a:srgbClr val="EFF3F6"/>
          </a:solidFill>
          <a:ln w="12600">
            <a:solidFill>
              <a:srgbClr val="EFF3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62" name="Text 58"/>
          <p:cNvSpPr/>
          <p:nvPr/>
        </p:nvSpPr>
        <p:spPr>
          <a:xfrm>
            <a:off x="9683640" y="5024520"/>
            <a:ext cx="1206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Reporting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63" name="Text 59"/>
          <p:cNvSpPr/>
          <p:nvPr/>
        </p:nvSpPr>
        <p:spPr>
          <a:xfrm>
            <a:off x="841320" y="553212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86979"/>
                </a:solidFill>
                <a:effectLst/>
                <a:uFillTx/>
                <a:latin typeface="Aptos"/>
              </a:rPr>
              <a:t>Design takeaway: keep the core hotel workflow, avoid unnecessary enterprise complexity.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64" name="PlaceHolder 1"/>
          <p:cNvSpPr>
            <a:spLocks noGrp="1"/>
          </p:cNvSpPr>
          <p:nvPr>
            <p:ph type="sldNum" idx="7"/>
          </p:nvPr>
        </p:nvSpPr>
        <p:spPr>
          <a:xfrm>
            <a:off x="11722680" y="651960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7A8793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6E3C0AB-BFB2-450F-89A7-F95F319EA3EB}" type="slidenum">
              <a:rPr lang="en-US" sz="900" b="0" u="none" strike="noStrike">
                <a:solidFill>
                  <a:srgbClr val="7A8793"/>
                </a:solidFill>
                <a:effectLst/>
                <a:uFillTx/>
                <a:latin typeface="Aptos"/>
                <a:ea typeface="Aptos"/>
              </a:rPr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 0"/>
          <p:cNvSpPr/>
          <p:nvPr/>
        </p:nvSpPr>
        <p:spPr>
          <a:xfrm>
            <a:off x="530280" y="311040"/>
            <a:ext cx="110638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163A5F"/>
                </a:solidFill>
                <a:effectLst/>
                <a:uFillTx/>
                <a:latin typeface="Aptos Display"/>
                <a:ea typeface="Aptos Display"/>
              </a:rPr>
              <a:t>Proposed Solution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66" name="Text 1"/>
          <p:cNvSpPr/>
          <p:nvPr/>
        </p:nvSpPr>
        <p:spPr>
          <a:xfrm>
            <a:off x="548640" y="74988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86979"/>
                </a:solidFill>
                <a:effectLst/>
                <a:uFillTx/>
                <a:latin typeface="Aptos"/>
              </a:rPr>
              <a:t>A focused employee-facing system for one medium-sized hotel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67" name="Shape 2"/>
          <p:cNvSpPr/>
          <p:nvPr/>
        </p:nvSpPr>
        <p:spPr>
          <a:xfrm>
            <a:off x="567000" y="1152000"/>
            <a:ext cx="4736160" cy="5074560"/>
          </a:xfrm>
          <a:prstGeom prst="roundRect">
            <a:avLst>
              <a:gd name="adj" fmla="val 1158"/>
            </a:avLst>
          </a:prstGeom>
          <a:solidFill>
            <a:srgbClr val="FFFFFF"/>
          </a:solidFill>
          <a:ln w="12600">
            <a:solidFill>
              <a:srgbClr val="D8E0E7"/>
            </a:solidFill>
            <a:round/>
          </a:ln>
          <a:effectLst>
            <a:outerShdw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68" name="Shape 3"/>
          <p:cNvSpPr/>
          <p:nvPr/>
        </p:nvSpPr>
        <p:spPr>
          <a:xfrm>
            <a:off x="841320" y="1435680"/>
            <a:ext cx="1846800" cy="383760"/>
          </a:xfrm>
          <a:prstGeom prst="roundRect">
            <a:avLst>
              <a:gd name="adj" fmla="val 9524"/>
            </a:avLst>
          </a:prstGeom>
          <a:solidFill>
            <a:srgbClr val="EAF2F8"/>
          </a:solidFill>
          <a:ln w="12600">
            <a:solidFill>
              <a:srgbClr val="EAF2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69" name="Text 4"/>
          <p:cNvSpPr/>
          <p:nvPr/>
        </p:nvSpPr>
        <p:spPr>
          <a:xfrm>
            <a:off x="978480" y="1508760"/>
            <a:ext cx="15724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F6FA3"/>
                </a:solidFill>
                <a:effectLst/>
                <a:uFillTx/>
                <a:latin typeface="Aptos"/>
              </a:rPr>
              <a:t>INITIAL SCOPE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0" name="Shape 5"/>
          <p:cNvSpPr/>
          <p:nvPr/>
        </p:nvSpPr>
        <p:spPr>
          <a:xfrm>
            <a:off x="859680" y="2011680"/>
            <a:ext cx="292320" cy="292320"/>
          </a:xfrm>
          <a:prstGeom prst="ellipse">
            <a:avLst/>
          </a:prstGeom>
          <a:solidFill>
            <a:srgbClr val="2F6FA3"/>
          </a:solidFill>
          <a:ln w="12600">
            <a:solidFill>
              <a:srgbClr val="2F6FA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1" name="Text 6"/>
          <p:cNvSpPr/>
          <p:nvPr/>
        </p:nvSpPr>
        <p:spPr>
          <a:xfrm>
            <a:off x="1280160" y="2002680"/>
            <a:ext cx="13896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One hotel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2" name="Text 7"/>
          <p:cNvSpPr/>
          <p:nvPr/>
        </p:nvSpPr>
        <p:spPr>
          <a:xfrm>
            <a:off x="2761560" y="2011680"/>
            <a:ext cx="21484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86979"/>
                </a:solidFill>
                <a:effectLst/>
                <a:uFillTx/>
                <a:latin typeface="Aptos"/>
              </a:rPr>
              <a:t>single-property operation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3" name="Shape 8"/>
          <p:cNvSpPr/>
          <p:nvPr/>
        </p:nvSpPr>
        <p:spPr>
          <a:xfrm>
            <a:off x="859680" y="2624400"/>
            <a:ext cx="292320" cy="292320"/>
          </a:xfrm>
          <a:prstGeom prst="ellipse">
            <a:avLst/>
          </a:prstGeom>
          <a:solidFill>
            <a:srgbClr val="2A9D8F"/>
          </a:solidFill>
          <a:ln w="12600">
            <a:solidFill>
              <a:srgbClr val="2A9D8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4" name="Text 9"/>
          <p:cNvSpPr/>
          <p:nvPr/>
        </p:nvSpPr>
        <p:spPr>
          <a:xfrm>
            <a:off x="1280160" y="2615040"/>
            <a:ext cx="13896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≈ 80 rooms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5" name="Text 10"/>
          <p:cNvSpPr/>
          <p:nvPr/>
        </p:nvSpPr>
        <p:spPr>
          <a:xfrm>
            <a:off x="2761560" y="2624400"/>
            <a:ext cx="21484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86979"/>
                </a:solidFill>
                <a:effectLst/>
                <a:uFillTx/>
                <a:latin typeface="Aptos"/>
              </a:rPr>
              <a:t>medium-sized capacity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6" name="Shape 11"/>
          <p:cNvSpPr/>
          <p:nvPr/>
        </p:nvSpPr>
        <p:spPr>
          <a:xfrm>
            <a:off x="859680" y="3237120"/>
            <a:ext cx="292320" cy="292320"/>
          </a:xfrm>
          <a:prstGeom prst="ellipse">
            <a:avLst/>
          </a:prstGeom>
          <a:solidFill>
            <a:srgbClr val="E9C46A"/>
          </a:solidFill>
          <a:ln w="12600">
            <a:solidFill>
              <a:srgbClr val="E9C46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7" name="Text 12"/>
          <p:cNvSpPr/>
          <p:nvPr/>
        </p:nvSpPr>
        <p:spPr>
          <a:xfrm>
            <a:off x="1280160" y="3227760"/>
            <a:ext cx="13896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Employees only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8" name="Text 13"/>
          <p:cNvSpPr/>
          <p:nvPr/>
        </p:nvSpPr>
        <p:spPr>
          <a:xfrm>
            <a:off x="2761560" y="3237120"/>
            <a:ext cx="21484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86979"/>
                </a:solidFill>
                <a:effectLst/>
                <a:uFillTx/>
                <a:latin typeface="Aptos"/>
              </a:rPr>
              <a:t>no public guest portal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9" name="Shape 14"/>
          <p:cNvSpPr/>
          <p:nvPr/>
        </p:nvSpPr>
        <p:spPr>
          <a:xfrm>
            <a:off x="859680" y="3849480"/>
            <a:ext cx="292320" cy="292320"/>
          </a:xfrm>
          <a:prstGeom prst="ellipse">
            <a:avLst/>
          </a:prstGeom>
          <a:solidFill>
            <a:srgbClr val="E76F51"/>
          </a:solidFill>
          <a:ln w="12600">
            <a:solidFill>
              <a:srgbClr val="E76F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0" name="Text 15"/>
          <p:cNvSpPr/>
          <p:nvPr/>
        </p:nvSpPr>
        <p:spPr>
          <a:xfrm>
            <a:off x="1280160" y="3840480"/>
            <a:ext cx="13896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Centralized data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1" name="Text 16"/>
          <p:cNvSpPr/>
          <p:nvPr/>
        </p:nvSpPr>
        <p:spPr>
          <a:xfrm>
            <a:off x="2761560" y="3849480"/>
            <a:ext cx="21484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86979"/>
                </a:solidFill>
                <a:effectLst/>
                <a:uFillTx/>
                <a:latin typeface="Aptos"/>
              </a:rPr>
              <a:t>one source of truth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2" name="Shape 17"/>
          <p:cNvSpPr/>
          <p:nvPr/>
        </p:nvSpPr>
        <p:spPr>
          <a:xfrm>
            <a:off x="841320" y="4553640"/>
            <a:ext cx="2422800" cy="383760"/>
          </a:xfrm>
          <a:prstGeom prst="roundRect">
            <a:avLst>
              <a:gd name="adj" fmla="val 9524"/>
            </a:avLst>
          </a:prstGeom>
          <a:solidFill>
            <a:srgbClr val="EAF5F1"/>
          </a:solidFill>
          <a:ln w="12600">
            <a:solidFill>
              <a:srgbClr val="EAF5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3" name="Text 18"/>
          <p:cNvSpPr/>
          <p:nvPr/>
        </p:nvSpPr>
        <p:spPr>
          <a:xfrm>
            <a:off x="978480" y="4626720"/>
            <a:ext cx="21484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5C9A7A"/>
                </a:solidFill>
                <a:effectLst/>
                <a:uFillTx/>
                <a:latin typeface="Aptos"/>
              </a:rPr>
              <a:t>CORE BUSINESS MODULES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4" name="Shape 19"/>
          <p:cNvSpPr/>
          <p:nvPr/>
        </p:nvSpPr>
        <p:spPr>
          <a:xfrm>
            <a:off x="868680" y="5010840"/>
            <a:ext cx="1901520" cy="347040"/>
          </a:xfrm>
          <a:prstGeom prst="roundRect">
            <a:avLst>
              <a:gd name="adj" fmla="val 21053"/>
            </a:avLst>
          </a:prstGeom>
          <a:solidFill>
            <a:srgbClr val="EAF2F8"/>
          </a:solidFill>
          <a:ln w="12600">
            <a:solidFill>
              <a:srgbClr val="EAF2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5" name="Text 20"/>
          <p:cNvSpPr/>
          <p:nvPr/>
        </p:nvSpPr>
        <p:spPr>
          <a:xfrm>
            <a:off x="914400" y="5070240"/>
            <a:ext cx="18100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1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Authentication &amp; Roles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6" name="Shape 21"/>
          <p:cNvSpPr/>
          <p:nvPr/>
        </p:nvSpPr>
        <p:spPr>
          <a:xfrm>
            <a:off x="2990160" y="5010840"/>
            <a:ext cx="1901520" cy="347040"/>
          </a:xfrm>
          <a:prstGeom prst="roundRect">
            <a:avLst>
              <a:gd name="adj" fmla="val 21053"/>
            </a:avLst>
          </a:prstGeom>
          <a:solidFill>
            <a:srgbClr val="EAF5F1"/>
          </a:solidFill>
          <a:ln w="12600">
            <a:solidFill>
              <a:srgbClr val="EAF5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7" name="Text 22"/>
          <p:cNvSpPr/>
          <p:nvPr/>
        </p:nvSpPr>
        <p:spPr>
          <a:xfrm>
            <a:off x="3035880" y="5070240"/>
            <a:ext cx="18100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1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Rooms &amp; Rates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8" name="Shape 23"/>
          <p:cNvSpPr/>
          <p:nvPr/>
        </p:nvSpPr>
        <p:spPr>
          <a:xfrm>
            <a:off x="868680" y="5440680"/>
            <a:ext cx="1901520" cy="347040"/>
          </a:xfrm>
          <a:prstGeom prst="roundRect">
            <a:avLst>
              <a:gd name="adj" fmla="val 21053"/>
            </a:avLst>
          </a:prstGeom>
          <a:solidFill>
            <a:srgbClr val="FFF4D6"/>
          </a:solidFill>
          <a:ln w="12600">
            <a:solidFill>
              <a:srgbClr val="FFF4D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9" name="Text 24"/>
          <p:cNvSpPr/>
          <p:nvPr/>
        </p:nvSpPr>
        <p:spPr>
          <a:xfrm>
            <a:off x="914400" y="5500080"/>
            <a:ext cx="18100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1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Guests &amp; Reservations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0" name="Shape 25"/>
          <p:cNvSpPr/>
          <p:nvPr/>
        </p:nvSpPr>
        <p:spPr>
          <a:xfrm>
            <a:off x="2990160" y="5440680"/>
            <a:ext cx="1901520" cy="347040"/>
          </a:xfrm>
          <a:prstGeom prst="roundRect">
            <a:avLst>
              <a:gd name="adj" fmla="val 21053"/>
            </a:avLst>
          </a:prstGeom>
          <a:solidFill>
            <a:srgbClr val="FCECE8"/>
          </a:solidFill>
          <a:ln w="12600">
            <a:solidFill>
              <a:srgbClr val="FCEC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1" name="Text 26"/>
          <p:cNvSpPr/>
          <p:nvPr/>
        </p:nvSpPr>
        <p:spPr>
          <a:xfrm>
            <a:off x="3035880" y="5500080"/>
            <a:ext cx="18100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1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Stay &amp; Housekeeping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2" name="Shape 27"/>
          <p:cNvSpPr/>
          <p:nvPr/>
        </p:nvSpPr>
        <p:spPr>
          <a:xfrm>
            <a:off x="868680" y="5870520"/>
            <a:ext cx="1901520" cy="347040"/>
          </a:xfrm>
          <a:prstGeom prst="roundRect">
            <a:avLst>
              <a:gd name="adj" fmla="val 21053"/>
            </a:avLst>
          </a:prstGeom>
          <a:solidFill>
            <a:srgbClr val="EFF3F6"/>
          </a:solidFill>
          <a:ln w="12600">
            <a:solidFill>
              <a:srgbClr val="EFF3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3" name="Text 28"/>
          <p:cNvSpPr/>
          <p:nvPr/>
        </p:nvSpPr>
        <p:spPr>
          <a:xfrm>
            <a:off x="914400" y="5929920"/>
            <a:ext cx="18100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1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Payments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4" name="Shape 29"/>
          <p:cNvSpPr/>
          <p:nvPr/>
        </p:nvSpPr>
        <p:spPr>
          <a:xfrm>
            <a:off x="2990160" y="5870520"/>
            <a:ext cx="1901520" cy="347040"/>
          </a:xfrm>
          <a:prstGeom prst="roundRect">
            <a:avLst>
              <a:gd name="adj" fmla="val 21053"/>
            </a:avLst>
          </a:prstGeom>
          <a:solidFill>
            <a:srgbClr val="EAF2F8"/>
          </a:solidFill>
          <a:ln w="12600">
            <a:solidFill>
              <a:srgbClr val="EAF2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5" name="Text 30"/>
          <p:cNvSpPr/>
          <p:nvPr/>
        </p:nvSpPr>
        <p:spPr>
          <a:xfrm>
            <a:off x="3035880" y="5929920"/>
            <a:ext cx="18100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1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Reporting &amp; Audit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6" name="Shape 31"/>
          <p:cNvSpPr/>
          <p:nvPr/>
        </p:nvSpPr>
        <p:spPr>
          <a:xfrm>
            <a:off x="5559480" y="238125"/>
            <a:ext cx="6071400" cy="5988435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600">
            <a:solidFill>
              <a:srgbClr val="D8E0E7"/>
            </a:solidFill>
            <a:round/>
          </a:ln>
          <a:effectLst>
            <a:outerShdw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7" name="Text 32"/>
          <p:cNvSpPr/>
          <p:nvPr/>
        </p:nvSpPr>
        <p:spPr>
          <a:xfrm>
            <a:off x="5865840" y="305865"/>
            <a:ext cx="544032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dirty="0">
                <a:solidFill>
                  <a:srgbClr val="163A5F"/>
                </a:solidFill>
                <a:effectLst/>
                <a:uFillTx/>
                <a:latin typeface="Aptos"/>
              </a:rPr>
              <a:t>Initial Software Architecture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198" name="Image 0" descr="/mnt/data/ppt_assets/architecture.png"/>
          <p:cNvPicPr/>
          <p:nvPr/>
        </p:nvPicPr>
        <p:blipFill>
          <a:blip r:embed="rId1"/>
          <a:srcRect l="16817" r="16529" b="6292"/>
          <a:stretch>
            <a:fillRect/>
          </a:stretch>
        </p:blipFill>
        <p:spPr>
          <a:xfrm>
            <a:off x="5879520" y="694800"/>
            <a:ext cx="5398080" cy="495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9" name="Shape 33"/>
          <p:cNvSpPr/>
          <p:nvPr/>
        </p:nvSpPr>
        <p:spPr>
          <a:xfrm>
            <a:off x="5879520" y="5650920"/>
            <a:ext cx="5412960" cy="383760"/>
          </a:xfrm>
          <a:prstGeom prst="roundRect">
            <a:avLst>
              <a:gd name="adj" fmla="val 9524"/>
            </a:avLst>
          </a:prstGeom>
          <a:solidFill>
            <a:srgbClr val="FFF4D6"/>
          </a:solidFill>
          <a:ln w="12600">
            <a:solidFill>
              <a:srgbClr val="FFF4D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00" name="Text 34"/>
          <p:cNvSpPr/>
          <p:nvPr/>
        </p:nvSpPr>
        <p:spPr>
          <a:xfrm>
            <a:off x="6016680" y="5724000"/>
            <a:ext cx="51386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A6100"/>
                </a:solidFill>
                <a:effectLst/>
                <a:uFillTx/>
                <a:latin typeface="Aptos"/>
              </a:rPr>
              <a:t>Future extensions: online booking • external payments • loyalty • OTA integration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01" name="PlaceHolder 1"/>
          <p:cNvSpPr>
            <a:spLocks noGrp="1"/>
          </p:cNvSpPr>
          <p:nvPr>
            <p:ph type="sldNum" idx="8"/>
          </p:nvPr>
        </p:nvSpPr>
        <p:spPr>
          <a:xfrm>
            <a:off x="11722680" y="651960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7A8793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E5FAE86-BEE9-464C-9DD6-21AB45448583}" type="slidenum">
              <a:rPr lang="en-US" sz="900" b="0" u="none" strike="noStrike">
                <a:solidFill>
                  <a:srgbClr val="7A8793"/>
                </a:solidFill>
                <a:effectLst/>
                <a:uFillTx/>
                <a:latin typeface="Aptos"/>
                <a:ea typeface="Aptos"/>
              </a:rPr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ext 0"/>
          <p:cNvSpPr/>
          <p:nvPr/>
        </p:nvSpPr>
        <p:spPr>
          <a:xfrm>
            <a:off x="530280" y="311040"/>
            <a:ext cx="110638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163A5F"/>
                </a:solidFill>
                <a:effectLst/>
                <a:uFillTx/>
                <a:latin typeface="Aptos Display"/>
                <a:ea typeface="Aptos Display"/>
              </a:rPr>
              <a:t>System Requirements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03" name="Text 1"/>
          <p:cNvSpPr/>
          <p:nvPr/>
        </p:nvSpPr>
        <p:spPr>
          <a:xfrm>
            <a:off x="548640" y="74988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86979"/>
                </a:solidFill>
                <a:effectLst/>
                <a:uFillTx/>
                <a:latin typeface="Aptos"/>
              </a:rPr>
              <a:t>Main requirement groups identified during Sprint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04" name="Shape 2"/>
          <p:cNvSpPr/>
          <p:nvPr/>
        </p:nvSpPr>
        <p:spPr>
          <a:xfrm>
            <a:off x="713160" y="1216080"/>
            <a:ext cx="1755360" cy="1352880"/>
          </a:xfrm>
          <a:prstGeom prst="roundRect">
            <a:avLst>
              <a:gd name="adj" fmla="val 4054"/>
            </a:avLst>
          </a:prstGeom>
          <a:solidFill>
            <a:srgbClr val="EAF2F8"/>
          </a:solidFill>
          <a:ln w="12600">
            <a:solidFill>
              <a:srgbClr val="2F6FA3"/>
            </a:solidFill>
            <a:round/>
          </a:ln>
          <a:effectLst>
            <a:outerShdw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05" name="Text 3"/>
          <p:cNvSpPr/>
          <p:nvPr/>
        </p:nvSpPr>
        <p:spPr>
          <a:xfrm>
            <a:off x="1307535" y="1225800"/>
            <a:ext cx="5756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 dirty="0">
                <a:solidFill>
                  <a:srgbClr val="2F6FA3"/>
                </a:solidFill>
                <a:effectLst/>
                <a:uFillTx/>
                <a:latin typeface="Aptos"/>
              </a:rPr>
              <a:t>FR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06" name="Text 4"/>
          <p:cNvSpPr/>
          <p:nvPr/>
        </p:nvSpPr>
        <p:spPr>
          <a:xfrm>
            <a:off x="1019520" y="1645920"/>
            <a:ext cx="114264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 dirty="0">
                <a:solidFill>
                  <a:srgbClr val="23303D"/>
                </a:solidFill>
                <a:effectLst/>
                <a:uFillTx/>
                <a:latin typeface="Aptos"/>
              </a:rPr>
              <a:t>Functional Requirements</a:t>
            </a:r>
            <a:endParaRPr lang="en-US" sz="132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07" name="Shape 5"/>
          <p:cNvSpPr/>
          <p:nvPr/>
        </p:nvSpPr>
        <p:spPr>
          <a:xfrm>
            <a:off x="2630280" y="1216080"/>
            <a:ext cx="1755360" cy="1352880"/>
          </a:xfrm>
          <a:prstGeom prst="roundRect">
            <a:avLst>
              <a:gd name="adj" fmla="val 4054"/>
            </a:avLst>
          </a:prstGeom>
          <a:solidFill>
            <a:srgbClr val="EAF5F1"/>
          </a:solidFill>
          <a:ln w="12600">
            <a:solidFill>
              <a:srgbClr val="2A9D8F"/>
            </a:solidFill>
            <a:round/>
          </a:ln>
          <a:effectLst>
            <a:outerShdw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08" name="Text 6"/>
          <p:cNvSpPr/>
          <p:nvPr/>
        </p:nvSpPr>
        <p:spPr>
          <a:xfrm>
            <a:off x="3191565" y="1233915"/>
            <a:ext cx="5756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 dirty="0">
                <a:solidFill>
                  <a:srgbClr val="2A9D8F"/>
                </a:solidFill>
                <a:effectLst/>
                <a:uFillTx/>
                <a:latin typeface="Aptos"/>
              </a:rPr>
              <a:t>NFR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09" name="Text 7"/>
          <p:cNvSpPr/>
          <p:nvPr/>
        </p:nvSpPr>
        <p:spPr>
          <a:xfrm>
            <a:off x="2955810" y="1644540"/>
            <a:ext cx="105210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 dirty="0">
                <a:solidFill>
                  <a:srgbClr val="23303D"/>
                </a:solidFill>
                <a:effectLst/>
                <a:uFillTx/>
                <a:latin typeface="Aptos"/>
              </a:rPr>
              <a:t>Non-functional Requirements</a:t>
            </a:r>
            <a:endParaRPr lang="en-US" sz="132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10" name="Shape 8"/>
          <p:cNvSpPr/>
          <p:nvPr/>
        </p:nvSpPr>
        <p:spPr>
          <a:xfrm>
            <a:off x="4517100" y="1208460"/>
            <a:ext cx="1755360" cy="1352880"/>
          </a:xfrm>
          <a:prstGeom prst="roundRect">
            <a:avLst>
              <a:gd name="adj" fmla="val 4054"/>
            </a:avLst>
          </a:prstGeom>
          <a:solidFill>
            <a:srgbClr val="FFF4D6"/>
          </a:solidFill>
          <a:ln w="12600">
            <a:solidFill>
              <a:srgbClr val="F4A261"/>
            </a:solidFill>
            <a:round/>
          </a:ln>
          <a:effectLst>
            <a:outerShdw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11" name="Text 9"/>
          <p:cNvSpPr/>
          <p:nvPr/>
        </p:nvSpPr>
        <p:spPr>
          <a:xfrm>
            <a:off x="5118375" y="1226295"/>
            <a:ext cx="5756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 dirty="0">
                <a:solidFill>
                  <a:srgbClr val="F4A261"/>
                </a:solidFill>
                <a:effectLst/>
                <a:uFillTx/>
                <a:latin typeface="Aptos"/>
              </a:rPr>
              <a:t>BR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12" name="Text 10"/>
          <p:cNvSpPr/>
          <p:nvPr/>
        </p:nvSpPr>
        <p:spPr>
          <a:xfrm>
            <a:off x="4824338" y="1694235"/>
            <a:ext cx="1165845" cy="47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 dirty="0">
                <a:solidFill>
                  <a:srgbClr val="23303D"/>
                </a:solidFill>
                <a:effectLst/>
                <a:uFillTx/>
                <a:latin typeface="Aptos"/>
              </a:rPr>
              <a:t>Business Rules</a:t>
            </a:r>
            <a:endParaRPr lang="en-US" sz="132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13" name="Shape 11"/>
          <p:cNvSpPr/>
          <p:nvPr/>
        </p:nvSpPr>
        <p:spPr>
          <a:xfrm>
            <a:off x="658440" y="2788920"/>
            <a:ext cx="5440320" cy="3145320"/>
          </a:xfrm>
          <a:prstGeom prst="roundRect">
            <a:avLst>
              <a:gd name="adj" fmla="val 1744"/>
            </a:avLst>
          </a:prstGeom>
          <a:solidFill>
            <a:srgbClr val="FFFFFF"/>
          </a:solidFill>
          <a:ln w="12600">
            <a:solidFill>
              <a:srgbClr val="D8E0E7"/>
            </a:solidFill>
            <a:round/>
          </a:ln>
          <a:effectLst>
            <a:outerShdw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14" name="Shape 12"/>
          <p:cNvSpPr/>
          <p:nvPr/>
        </p:nvSpPr>
        <p:spPr>
          <a:xfrm>
            <a:off x="914400" y="3035880"/>
            <a:ext cx="2331360" cy="383760"/>
          </a:xfrm>
          <a:prstGeom prst="roundRect">
            <a:avLst>
              <a:gd name="adj" fmla="val 9524"/>
            </a:avLst>
          </a:prstGeom>
          <a:solidFill>
            <a:srgbClr val="EAF2F8"/>
          </a:solidFill>
          <a:ln w="12600">
            <a:solidFill>
              <a:srgbClr val="EAF2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15" name="Text 13"/>
          <p:cNvSpPr/>
          <p:nvPr/>
        </p:nvSpPr>
        <p:spPr>
          <a:xfrm>
            <a:off x="1051560" y="3108960"/>
            <a:ext cx="20570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F6FA3"/>
                </a:solidFill>
                <a:effectLst/>
                <a:uFillTx/>
                <a:latin typeface="Aptos"/>
              </a:rPr>
              <a:t>FUNCTIONAL REQUIREMENTS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16" name="Text 14"/>
          <p:cNvSpPr/>
          <p:nvPr/>
        </p:nvSpPr>
        <p:spPr>
          <a:xfrm>
            <a:off x="932760" y="3566160"/>
            <a:ext cx="4754520" cy="206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177800" indent="-177800" defTabSz="914400">
              <a:lnSpc>
                <a:spcPct val="100000"/>
              </a:lnSpc>
              <a:buClr>
                <a:srgbClr val="23303D"/>
              </a:buClr>
              <a:buFont typeface="Symbol" panose="05050102010706020507" charset="2"/>
              <a:buChar char=""/>
            </a:pPr>
            <a:r>
              <a:rPr lang="en-US" sz="1570" b="0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Authentication &amp; role-based access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7800" indent="-177800" defTabSz="914400">
              <a:lnSpc>
                <a:spcPct val="100000"/>
              </a:lnSpc>
              <a:buClr>
                <a:srgbClr val="23303D"/>
              </a:buClr>
              <a:buFont typeface="Symbol" panose="05050102010706020507" charset="2"/>
              <a:buChar char=""/>
            </a:pPr>
            <a:r>
              <a:rPr lang="en-US" sz="1570" b="0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Rooms, room types and rates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7800" indent="-177800" defTabSz="914400">
              <a:lnSpc>
                <a:spcPct val="100000"/>
              </a:lnSpc>
              <a:buClr>
                <a:srgbClr val="23303D"/>
              </a:buClr>
              <a:buFont typeface="Symbol" panose="05050102010706020507" charset="2"/>
              <a:buChar char=""/>
            </a:pPr>
            <a:r>
              <a:rPr lang="en-US" sz="1570" b="0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Guest profiles and availability search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7800" indent="-177800" defTabSz="914400">
              <a:lnSpc>
                <a:spcPct val="100000"/>
              </a:lnSpc>
              <a:buClr>
                <a:srgbClr val="23303D"/>
              </a:buClr>
              <a:buFont typeface="Symbol" panose="05050102010706020507" charset="2"/>
              <a:buChar char=""/>
            </a:pPr>
            <a:r>
              <a:rPr lang="en-US" sz="1570" b="0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Reservations and room assignment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7800" indent="-177800" defTabSz="914400">
              <a:lnSpc>
                <a:spcPct val="100000"/>
              </a:lnSpc>
              <a:buClr>
                <a:srgbClr val="23303D"/>
              </a:buClr>
              <a:buFont typeface="Symbol" panose="05050102010706020507" charset="2"/>
              <a:buChar char=""/>
            </a:pPr>
            <a:r>
              <a:rPr lang="en-US" sz="1570" b="0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Check-in / check-out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7800" indent="-177800" defTabSz="914400">
              <a:lnSpc>
                <a:spcPct val="100000"/>
              </a:lnSpc>
              <a:buClr>
                <a:srgbClr val="23303D"/>
              </a:buClr>
              <a:buFont typeface="Symbol" panose="05050102010706020507" charset="2"/>
              <a:buChar char=""/>
            </a:pPr>
            <a:r>
              <a:rPr lang="en-US" sz="1570" b="0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Payments, refunds and balances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7800" indent="-177800" defTabSz="914400">
              <a:lnSpc>
                <a:spcPct val="100000"/>
              </a:lnSpc>
              <a:buClr>
                <a:srgbClr val="23303D"/>
              </a:buClr>
              <a:buFont typeface="Symbol" panose="05050102010706020507" charset="2"/>
              <a:buChar char=""/>
            </a:pPr>
            <a:r>
              <a:rPr lang="en-US" sz="1570" b="0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Housekeeping status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7800" indent="-177800" defTabSz="914400">
              <a:lnSpc>
                <a:spcPct val="100000"/>
              </a:lnSpc>
              <a:buClr>
                <a:srgbClr val="23303D"/>
              </a:buClr>
              <a:buFont typeface="Symbol" panose="05050102010706020507" charset="2"/>
              <a:buChar char=""/>
            </a:pPr>
            <a:r>
              <a:rPr lang="en-US" sz="1570" b="0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Reporting and audit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17" name="Shape 15"/>
          <p:cNvSpPr/>
          <p:nvPr/>
        </p:nvSpPr>
        <p:spPr>
          <a:xfrm>
            <a:off x="6327720" y="1216080"/>
            <a:ext cx="5211720" cy="4717800"/>
          </a:xfrm>
          <a:prstGeom prst="roundRect">
            <a:avLst>
              <a:gd name="adj" fmla="val 1163"/>
            </a:avLst>
          </a:prstGeom>
          <a:solidFill>
            <a:srgbClr val="FFFFFF"/>
          </a:solidFill>
          <a:ln w="12600">
            <a:solidFill>
              <a:srgbClr val="D8E0E7"/>
            </a:solidFill>
            <a:round/>
          </a:ln>
          <a:effectLst>
            <a:outerShdw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18" name="Shape 16"/>
          <p:cNvSpPr/>
          <p:nvPr/>
        </p:nvSpPr>
        <p:spPr>
          <a:xfrm>
            <a:off x="6611040" y="1490925"/>
            <a:ext cx="3161610" cy="383760"/>
          </a:xfrm>
          <a:prstGeom prst="roundRect">
            <a:avLst>
              <a:gd name="adj" fmla="val 9524"/>
            </a:avLst>
          </a:prstGeom>
          <a:solidFill>
            <a:srgbClr val="EAF5F1"/>
          </a:solidFill>
          <a:ln w="12600">
            <a:solidFill>
              <a:srgbClr val="EAF5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19" name="Text 17"/>
          <p:cNvSpPr/>
          <p:nvPr/>
        </p:nvSpPr>
        <p:spPr>
          <a:xfrm>
            <a:off x="6748200" y="1592580"/>
            <a:ext cx="2700600" cy="18130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5C9A7A"/>
                </a:solidFill>
                <a:effectLst/>
                <a:uFillTx/>
                <a:latin typeface="Aptos"/>
              </a:rPr>
              <a:t>NON-FUNCTIONAL REQUIREMENTS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20" name="Shape 18"/>
          <p:cNvSpPr/>
          <p:nvPr/>
        </p:nvSpPr>
        <p:spPr>
          <a:xfrm>
            <a:off x="6629400" y="2057400"/>
            <a:ext cx="255600" cy="255600"/>
          </a:xfrm>
          <a:prstGeom prst="ellipse">
            <a:avLst/>
          </a:prstGeom>
          <a:solidFill>
            <a:srgbClr val="2A9D8F"/>
          </a:solidFill>
          <a:ln w="12600">
            <a:solidFill>
              <a:srgbClr val="2A9D8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21" name="Text 19"/>
          <p:cNvSpPr/>
          <p:nvPr/>
        </p:nvSpPr>
        <p:spPr>
          <a:xfrm>
            <a:off x="7040880" y="2030040"/>
            <a:ext cx="12798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Security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22" name="Text 20"/>
          <p:cNvSpPr/>
          <p:nvPr/>
        </p:nvSpPr>
        <p:spPr>
          <a:xfrm>
            <a:off x="8339400" y="2030040"/>
            <a:ext cx="27885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586979"/>
                </a:solidFill>
                <a:effectLst/>
                <a:uFillTx/>
                <a:latin typeface="Aptos"/>
              </a:rPr>
              <a:t>RBAC, password protection, auditability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23" name="Shape 21"/>
          <p:cNvSpPr/>
          <p:nvPr/>
        </p:nvSpPr>
        <p:spPr>
          <a:xfrm>
            <a:off x="6629400" y="2560320"/>
            <a:ext cx="255600" cy="255600"/>
          </a:xfrm>
          <a:prstGeom prst="ellipse">
            <a:avLst/>
          </a:prstGeom>
          <a:solidFill>
            <a:srgbClr val="2F6FA3"/>
          </a:solidFill>
          <a:ln w="12600">
            <a:solidFill>
              <a:srgbClr val="2F6FA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24" name="Text 22"/>
          <p:cNvSpPr/>
          <p:nvPr/>
        </p:nvSpPr>
        <p:spPr>
          <a:xfrm>
            <a:off x="7040880" y="2532960"/>
            <a:ext cx="12798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Performance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25" name="Text 23"/>
          <p:cNvSpPr/>
          <p:nvPr/>
        </p:nvSpPr>
        <p:spPr>
          <a:xfrm>
            <a:off x="8339400" y="2532960"/>
            <a:ext cx="27885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586979"/>
                </a:solidFill>
                <a:effectLst/>
                <a:uFillTx/>
                <a:latin typeface="Aptos"/>
              </a:rPr>
              <a:t>responsive search and reports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26" name="Shape 24"/>
          <p:cNvSpPr/>
          <p:nvPr/>
        </p:nvSpPr>
        <p:spPr>
          <a:xfrm>
            <a:off x="6629400" y="3063240"/>
            <a:ext cx="255600" cy="255600"/>
          </a:xfrm>
          <a:prstGeom prst="ellipse">
            <a:avLst/>
          </a:prstGeom>
          <a:solidFill>
            <a:srgbClr val="5C9A7A"/>
          </a:solidFill>
          <a:ln w="12600">
            <a:solidFill>
              <a:srgbClr val="5C9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27" name="Text 25"/>
          <p:cNvSpPr/>
          <p:nvPr/>
        </p:nvSpPr>
        <p:spPr>
          <a:xfrm>
            <a:off x="7040880" y="3035880"/>
            <a:ext cx="12798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Reliability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28" name="Text 26"/>
          <p:cNvSpPr/>
          <p:nvPr/>
        </p:nvSpPr>
        <p:spPr>
          <a:xfrm>
            <a:off x="8339400" y="3035880"/>
            <a:ext cx="27885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586979"/>
                </a:solidFill>
                <a:effectLst/>
                <a:uFillTx/>
                <a:latin typeface="Aptos"/>
              </a:rPr>
              <a:t>transactional consistency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29" name="Shape 27"/>
          <p:cNvSpPr/>
          <p:nvPr/>
        </p:nvSpPr>
        <p:spPr>
          <a:xfrm>
            <a:off x="6629400" y="3566160"/>
            <a:ext cx="255600" cy="255600"/>
          </a:xfrm>
          <a:prstGeom prst="ellipse">
            <a:avLst/>
          </a:prstGeom>
          <a:solidFill>
            <a:srgbClr val="E9C46A"/>
          </a:solidFill>
          <a:ln w="12600">
            <a:solidFill>
              <a:srgbClr val="E9C46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0" name="Text 28"/>
          <p:cNvSpPr/>
          <p:nvPr/>
        </p:nvSpPr>
        <p:spPr>
          <a:xfrm>
            <a:off x="7040880" y="3538800"/>
            <a:ext cx="12798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Usability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1" name="Text 29"/>
          <p:cNvSpPr/>
          <p:nvPr/>
        </p:nvSpPr>
        <p:spPr>
          <a:xfrm>
            <a:off x="8339400" y="3538800"/>
            <a:ext cx="27885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586979"/>
                </a:solidFill>
                <a:effectLst/>
                <a:uFillTx/>
                <a:latin typeface="Aptos"/>
              </a:rPr>
              <a:t>clear employee workflows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2" name="Shape 30"/>
          <p:cNvSpPr/>
          <p:nvPr/>
        </p:nvSpPr>
        <p:spPr>
          <a:xfrm>
            <a:off x="6629400" y="4069080"/>
            <a:ext cx="255600" cy="255600"/>
          </a:xfrm>
          <a:prstGeom prst="ellipse">
            <a:avLst/>
          </a:prstGeom>
          <a:solidFill>
            <a:srgbClr val="E76F51"/>
          </a:solidFill>
          <a:ln w="12600">
            <a:solidFill>
              <a:srgbClr val="E76F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3" name="Text 31"/>
          <p:cNvSpPr/>
          <p:nvPr/>
        </p:nvSpPr>
        <p:spPr>
          <a:xfrm>
            <a:off x="6974205" y="4070295"/>
            <a:ext cx="12985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23303D"/>
                </a:solidFill>
                <a:effectLst/>
                <a:uFillTx/>
                <a:latin typeface="Aptos"/>
              </a:rPr>
              <a:t>Maintainability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4" name="Text 32"/>
          <p:cNvSpPr/>
          <p:nvPr/>
        </p:nvSpPr>
        <p:spPr>
          <a:xfrm>
            <a:off x="8339400" y="4079820"/>
            <a:ext cx="27885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 dirty="0">
                <a:solidFill>
                  <a:srgbClr val="586979"/>
                </a:solidFill>
                <a:effectLst/>
                <a:uFillTx/>
                <a:latin typeface="Aptos"/>
              </a:rPr>
              <a:t>modular layered design</a:t>
            </a:r>
            <a:endParaRPr lang="en-US" sz="132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5" name="Shape 33"/>
          <p:cNvSpPr/>
          <p:nvPr/>
        </p:nvSpPr>
        <p:spPr>
          <a:xfrm>
            <a:off x="6629400" y="4572000"/>
            <a:ext cx="255600" cy="255600"/>
          </a:xfrm>
          <a:prstGeom prst="ellipse">
            <a:avLst/>
          </a:prstGeom>
          <a:solidFill>
            <a:srgbClr val="163A5F"/>
          </a:solidFill>
          <a:ln w="12600">
            <a:solidFill>
              <a:srgbClr val="16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6" name="Text 34"/>
          <p:cNvSpPr/>
          <p:nvPr/>
        </p:nvSpPr>
        <p:spPr>
          <a:xfrm>
            <a:off x="7040880" y="4544640"/>
            <a:ext cx="12798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Data Integrity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7" name="Text 35"/>
          <p:cNvSpPr/>
          <p:nvPr/>
        </p:nvSpPr>
        <p:spPr>
          <a:xfrm>
            <a:off x="8339400" y="4544640"/>
            <a:ext cx="27885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586979"/>
                </a:solidFill>
                <a:effectLst/>
                <a:uFillTx/>
                <a:latin typeface="Aptos"/>
              </a:rPr>
              <a:t>validated relationships and history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8" name="Shape 36"/>
          <p:cNvSpPr/>
          <p:nvPr/>
        </p:nvSpPr>
        <p:spPr>
          <a:xfrm>
            <a:off x="6629400" y="5074920"/>
            <a:ext cx="255600" cy="255600"/>
          </a:xfrm>
          <a:prstGeom prst="ellipse">
            <a:avLst/>
          </a:prstGeom>
          <a:solidFill>
            <a:srgbClr val="F4A261"/>
          </a:solidFill>
          <a:ln w="12600">
            <a:solidFill>
              <a:srgbClr val="F4A2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9" name="Text 37"/>
          <p:cNvSpPr/>
          <p:nvPr/>
        </p:nvSpPr>
        <p:spPr>
          <a:xfrm>
            <a:off x="7040880" y="5047560"/>
            <a:ext cx="12798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Backup &amp; Recovery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40" name="Text 38"/>
          <p:cNvSpPr/>
          <p:nvPr/>
        </p:nvSpPr>
        <p:spPr>
          <a:xfrm>
            <a:off x="8339400" y="5047560"/>
            <a:ext cx="27885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586979"/>
                </a:solidFill>
                <a:effectLst/>
                <a:uFillTx/>
                <a:latin typeface="Aptos"/>
              </a:rPr>
              <a:t>planned operational safeguards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41" name="Shape 39"/>
          <p:cNvSpPr/>
          <p:nvPr/>
        </p:nvSpPr>
        <p:spPr>
          <a:xfrm>
            <a:off x="658440" y="6080760"/>
            <a:ext cx="10881000" cy="383760"/>
          </a:xfrm>
          <a:prstGeom prst="roundRect">
            <a:avLst>
              <a:gd name="adj" fmla="val 9524"/>
            </a:avLst>
          </a:prstGeom>
          <a:solidFill>
            <a:srgbClr val="163A5F"/>
          </a:solidFill>
          <a:ln w="12600">
            <a:solidFill>
              <a:srgbClr val="16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42" name="Text 40"/>
          <p:cNvSpPr/>
          <p:nvPr/>
        </p:nvSpPr>
        <p:spPr>
          <a:xfrm>
            <a:off x="795600" y="6153840"/>
            <a:ext cx="106066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All requirements use unique IDs (FR / NFR / BR) so they can be traced and reviewed.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43" name="PlaceHolder 1"/>
          <p:cNvSpPr>
            <a:spLocks noGrp="1"/>
          </p:cNvSpPr>
          <p:nvPr>
            <p:ph type="sldNum" idx="9"/>
          </p:nvPr>
        </p:nvSpPr>
        <p:spPr>
          <a:xfrm>
            <a:off x="11722680" y="651960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7A8793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0EE316F-301F-4774-9C07-2C37C6A8388C}" type="slidenum">
              <a:rPr lang="en-US" sz="900" b="0" u="none" strike="noStrike">
                <a:solidFill>
                  <a:srgbClr val="7A8793"/>
                </a:solidFill>
                <a:effectLst/>
                <a:uFillTx/>
                <a:latin typeface="Aptos"/>
                <a:ea typeface="Aptos"/>
              </a:rPr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Text 0"/>
          <p:cNvSpPr/>
          <p:nvPr/>
        </p:nvSpPr>
        <p:spPr>
          <a:xfrm>
            <a:off x="530280" y="311040"/>
            <a:ext cx="110638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163A5F"/>
                </a:solidFill>
                <a:effectLst/>
                <a:uFillTx/>
                <a:latin typeface="Aptos Display"/>
                <a:ea typeface="Aptos Display"/>
              </a:rPr>
              <a:t>Users and Use Cases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45" name="Text 1"/>
          <p:cNvSpPr/>
          <p:nvPr/>
        </p:nvSpPr>
        <p:spPr>
          <a:xfrm>
            <a:off x="548640" y="74988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86979"/>
                </a:solidFill>
                <a:effectLst/>
                <a:uFillTx/>
                <a:latin typeface="Aptos"/>
              </a:rPr>
              <a:t>The first version is operated by hotel employees; guests are stored as business entities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46" name="Shape 2"/>
          <p:cNvSpPr/>
          <p:nvPr/>
        </p:nvSpPr>
        <p:spPr>
          <a:xfrm>
            <a:off x="502920" y="1170360"/>
            <a:ext cx="7817760" cy="5303160"/>
          </a:xfrm>
          <a:prstGeom prst="roundRect">
            <a:avLst>
              <a:gd name="adj" fmla="val 1034"/>
            </a:avLst>
          </a:prstGeom>
          <a:solidFill>
            <a:srgbClr val="FFFFFF"/>
          </a:solidFill>
          <a:ln w="12600">
            <a:solidFill>
              <a:srgbClr val="D8E0E7"/>
            </a:solidFill>
            <a:round/>
          </a:ln>
          <a:effectLst>
            <a:outerShdw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247" name="Image 0" descr="/mnt/data/ppt_assets/usecase-1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685800" y="1679760"/>
            <a:ext cx="7452000" cy="4192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8" name="Shape 3"/>
          <p:cNvSpPr/>
          <p:nvPr/>
        </p:nvSpPr>
        <p:spPr>
          <a:xfrm>
            <a:off x="8549640" y="1170360"/>
            <a:ext cx="3108600" cy="53031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600">
            <a:solidFill>
              <a:srgbClr val="D8E0E7"/>
            </a:solidFill>
            <a:round/>
          </a:ln>
          <a:effectLst>
            <a:outerShdw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49" name="Text 4"/>
          <p:cNvSpPr/>
          <p:nvPr/>
        </p:nvSpPr>
        <p:spPr>
          <a:xfrm>
            <a:off x="8823960" y="1435680"/>
            <a:ext cx="25599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63A5F"/>
                </a:solidFill>
                <a:effectLst/>
                <a:uFillTx/>
                <a:latin typeface="Aptos"/>
              </a:rPr>
              <a:t>Main Actors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50" name="Shape 5"/>
          <p:cNvSpPr/>
          <p:nvPr/>
        </p:nvSpPr>
        <p:spPr>
          <a:xfrm>
            <a:off x="8823960" y="1874520"/>
            <a:ext cx="365400" cy="365400"/>
          </a:xfrm>
          <a:prstGeom prst="ellipse">
            <a:avLst/>
          </a:prstGeom>
          <a:solidFill>
            <a:srgbClr val="163A5F"/>
          </a:solidFill>
          <a:ln w="12600">
            <a:solidFill>
              <a:srgbClr val="16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51" name="Text 6"/>
          <p:cNvSpPr/>
          <p:nvPr/>
        </p:nvSpPr>
        <p:spPr>
          <a:xfrm>
            <a:off x="8823960" y="1947600"/>
            <a:ext cx="3654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52" name="Text 7"/>
          <p:cNvSpPr/>
          <p:nvPr/>
        </p:nvSpPr>
        <p:spPr>
          <a:xfrm>
            <a:off x="9345240" y="1865520"/>
            <a:ext cx="196560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System Administrator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53" name="Text 8"/>
          <p:cNvSpPr/>
          <p:nvPr/>
        </p:nvSpPr>
        <p:spPr>
          <a:xfrm>
            <a:off x="9345240" y="2130480"/>
            <a:ext cx="19656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86979"/>
                </a:solidFill>
                <a:effectLst/>
                <a:uFillTx/>
                <a:latin typeface="Aptos"/>
              </a:rPr>
              <a:t>accounts &amp; roles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54" name="Shape 9"/>
          <p:cNvSpPr/>
          <p:nvPr/>
        </p:nvSpPr>
        <p:spPr>
          <a:xfrm>
            <a:off x="8823960" y="2551320"/>
            <a:ext cx="365400" cy="365400"/>
          </a:xfrm>
          <a:prstGeom prst="ellipse">
            <a:avLst/>
          </a:prstGeom>
          <a:solidFill>
            <a:srgbClr val="2F6FA3"/>
          </a:solidFill>
          <a:ln w="12600">
            <a:solidFill>
              <a:srgbClr val="2F6FA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55" name="Text 10"/>
          <p:cNvSpPr/>
          <p:nvPr/>
        </p:nvSpPr>
        <p:spPr>
          <a:xfrm>
            <a:off x="8823960" y="2624400"/>
            <a:ext cx="3654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56" name="Text 11"/>
          <p:cNvSpPr/>
          <p:nvPr/>
        </p:nvSpPr>
        <p:spPr>
          <a:xfrm>
            <a:off x="9345240" y="2541960"/>
            <a:ext cx="196560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Hotel Manager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57" name="Text 12"/>
          <p:cNvSpPr/>
          <p:nvPr/>
        </p:nvSpPr>
        <p:spPr>
          <a:xfrm>
            <a:off x="9345240" y="2807280"/>
            <a:ext cx="19656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86979"/>
                </a:solidFill>
                <a:effectLst/>
                <a:uFillTx/>
                <a:latin typeface="Aptos"/>
              </a:rPr>
              <a:t>rooms, rates &amp; reports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58" name="Shape 13"/>
          <p:cNvSpPr/>
          <p:nvPr/>
        </p:nvSpPr>
        <p:spPr>
          <a:xfrm>
            <a:off x="8823960" y="3227760"/>
            <a:ext cx="365400" cy="365400"/>
          </a:xfrm>
          <a:prstGeom prst="ellipse">
            <a:avLst/>
          </a:prstGeom>
          <a:solidFill>
            <a:srgbClr val="2A9D8F"/>
          </a:solidFill>
          <a:ln w="12600">
            <a:solidFill>
              <a:srgbClr val="2A9D8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59" name="Text 14"/>
          <p:cNvSpPr/>
          <p:nvPr/>
        </p:nvSpPr>
        <p:spPr>
          <a:xfrm>
            <a:off x="8823960" y="3300840"/>
            <a:ext cx="3654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60" name="Text 15"/>
          <p:cNvSpPr/>
          <p:nvPr/>
        </p:nvSpPr>
        <p:spPr>
          <a:xfrm>
            <a:off x="9345240" y="3218760"/>
            <a:ext cx="196560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Receptionist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61" name="Text 16"/>
          <p:cNvSpPr/>
          <p:nvPr/>
        </p:nvSpPr>
        <p:spPr>
          <a:xfrm>
            <a:off x="9345240" y="3483720"/>
            <a:ext cx="19656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86979"/>
                </a:solidFill>
                <a:effectLst/>
                <a:uFillTx/>
                <a:latin typeface="Aptos"/>
              </a:rPr>
              <a:t>reservations &amp; stay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62" name="Shape 17"/>
          <p:cNvSpPr/>
          <p:nvPr/>
        </p:nvSpPr>
        <p:spPr>
          <a:xfrm>
            <a:off x="8823960" y="3904560"/>
            <a:ext cx="365400" cy="365400"/>
          </a:xfrm>
          <a:prstGeom prst="ellipse">
            <a:avLst/>
          </a:prstGeom>
          <a:solidFill>
            <a:srgbClr val="F4A261"/>
          </a:solidFill>
          <a:ln w="12600">
            <a:solidFill>
              <a:srgbClr val="F4A2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63" name="Text 18"/>
          <p:cNvSpPr/>
          <p:nvPr/>
        </p:nvSpPr>
        <p:spPr>
          <a:xfrm>
            <a:off x="8823960" y="3977640"/>
            <a:ext cx="3654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64" name="Text 19"/>
          <p:cNvSpPr/>
          <p:nvPr/>
        </p:nvSpPr>
        <p:spPr>
          <a:xfrm>
            <a:off x="9345240" y="3895200"/>
            <a:ext cx="196560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Accountant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65" name="Text 20"/>
          <p:cNvSpPr/>
          <p:nvPr/>
        </p:nvSpPr>
        <p:spPr>
          <a:xfrm>
            <a:off x="9345240" y="4160520"/>
            <a:ext cx="19656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86979"/>
                </a:solidFill>
                <a:effectLst/>
                <a:uFillTx/>
                <a:latin typeface="Aptos"/>
              </a:rPr>
              <a:t>payments &amp; refunds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66" name="Shape 21"/>
          <p:cNvSpPr/>
          <p:nvPr/>
        </p:nvSpPr>
        <p:spPr>
          <a:xfrm>
            <a:off x="8823960" y="4581000"/>
            <a:ext cx="365400" cy="365400"/>
          </a:xfrm>
          <a:prstGeom prst="ellipse">
            <a:avLst/>
          </a:prstGeom>
          <a:solidFill>
            <a:srgbClr val="5C9A7A"/>
          </a:solidFill>
          <a:ln w="12600">
            <a:solidFill>
              <a:srgbClr val="5C9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67" name="Text 22"/>
          <p:cNvSpPr/>
          <p:nvPr/>
        </p:nvSpPr>
        <p:spPr>
          <a:xfrm>
            <a:off x="8823960" y="4654440"/>
            <a:ext cx="3654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68" name="Text 23"/>
          <p:cNvSpPr/>
          <p:nvPr/>
        </p:nvSpPr>
        <p:spPr>
          <a:xfrm>
            <a:off x="9345240" y="4572000"/>
            <a:ext cx="196560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Housekeeping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69" name="Text 24"/>
          <p:cNvSpPr/>
          <p:nvPr/>
        </p:nvSpPr>
        <p:spPr>
          <a:xfrm>
            <a:off x="9345240" y="4837320"/>
            <a:ext cx="19656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86979"/>
                </a:solidFill>
                <a:effectLst/>
                <a:uFillTx/>
                <a:latin typeface="Aptos"/>
              </a:rPr>
              <a:t>room status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70" name="Shape 25"/>
          <p:cNvSpPr/>
          <p:nvPr/>
        </p:nvSpPr>
        <p:spPr>
          <a:xfrm>
            <a:off x="8823960" y="5353050"/>
            <a:ext cx="2682240" cy="590550"/>
          </a:xfrm>
          <a:prstGeom prst="roundRect">
            <a:avLst>
              <a:gd name="adj" fmla="val 9524"/>
            </a:avLst>
          </a:prstGeom>
          <a:solidFill>
            <a:srgbClr val="FFF4D6"/>
          </a:solidFill>
          <a:ln w="12600">
            <a:solidFill>
              <a:srgbClr val="FFF4D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71" name="Text 26"/>
          <p:cNvSpPr/>
          <p:nvPr/>
        </p:nvSpPr>
        <p:spPr>
          <a:xfrm>
            <a:off x="8933760" y="5541120"/>
            <a:ext cx="23313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A6100"/>
                </a:solidFill>
                <a:effectLst/>
                <a:uFillTx/>
                <a:latin typeface="Aptos"/>
              </a:rPr>
              <a:t>Why is Guest not an actor? Guests do not directly operate the first release.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72" name="PlaceHolder 1"/>
          <p:cNvSpPr>
            <a:spLocks noGrp="1"/>
          </p:cNvSpPr>
          <p:nvPr>
            <p:ph type="sldNum" idx="10"/>
          </p:nvPr>
        </p:nvSpPr>
        <p:spPr>
          <a:xfrm>
            <a:off x="11722680" y="651960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7A8793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34A8497-8999-483E-9D4F-C2E9766F0738}" type="slidenum">
              <a:rPr lang="en-US" sz="900" b="0" u="none" strike="noStrike">
                <a:solidFill>
                  <a:srgbClr val="7A8793"/>
                </a:solidFill>
                <a:effectLst/>
                <a:uFillTx/>
                <a:latin typeface="Aptos"/>
                <a:ea typeface="Aptos"/>
              </a:rPr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Text 0"/>
          <p:cNvSpPr/>
          <p:nvPr/>
        </p:nvSpPr>
        <p:spPr>
          <a:xfrm>
            <a:off x="530280" y="311040"/>
            <a:ext cx="110638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163A5F"/>
                </a:solidFill>
                <a:effectLst/>
                <a:uFillTx/>
                <a:latin typeface="Aptos Display"/>
                <a:ea typeface="Aptos Display"/>
              </a:rPr>
              <a:t>Data Model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74" name="Text 1"/>
          <p:cNvSpPr/>
          <p:nvPr/>
        </p:nvSpPr>
        <p:spPr>
          <a:xfrm>
            <a:off x="548640" y="74988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86979"/>
                </a:solidFill>
                <a:effectLst/>
                <a:uFillTx/>
                <a:latin typeface="Aptos"/>
              </a:rPr>
              <a:t>Initial ER Diagram and the reasoning behind the core relationships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75" name="Shape 2"/>
          <p:cNvSpPr/>
          <p:nvPr/>
        </p:nvSpPr>
        <p:spPr>
          <a:xfrm>
            <a:off x="502920" y="1115640"/>
            <a:ext cx="11201040" cy="4315680"/>
          </a:xfrm>
          <a:prstGeom prst="roundRect">
            <a:avLst>
              <a:gd name="adj" fmla="val 1271"/>
            </a:avLst>
          </a:prstGeom>
          <a:solidFill>
            <a:srgbClr val="FFFFFF"/>
          </a:solidFill>
          <a:ln w="12600">
            <a:solidFill>
              <a:srgbClr val="D8E0E7"/>
            </a:solidFill>
            <a:round/>
          </a:ln>
          <a:effectLst>
            <a:outerShdw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276" name="Image 0" descr="/mnt/data/ppt_assets/erd.png"/>
          <p:cNvPicPr/>
          <p:nvPr/>
        </p:nvPicPr>
        <p:blipFill>
          <a:blip r:embed="rId1"/>
          <a:srcRect b="95667"/>
          <a:stretch>
            <a:fillRect/>
          </a:stretch>
        </p:blipFill>
        <p:spPr>
          <a:xfrm>
            <a:off x="2827620" y="1271161"/>
            <a:ext cx="6551640" cy="173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7" name="Shape 3"/>
          <p:cNvSpPr/>
          <p:nvPr/>
        </p:nvSpPr>
        <p:spPr>
          <a:xfrm>
            <a:off x="658440" y="5577840"/>
            <a:ext cx="3273120" cy="749520"/>
          </a:xfrm>
          <a:prstGeom prst="roundRect">
            <a:avLst>
              <a:gd name="adj" fmla="val 7317"/>
            </a:avLst>
          </a:prstGeom>
          <a:solidFill>
            <a:srgbClr val="EAF2F8"/>
          </a:solidFill>
          <a:ln w="12600">
            <a:solidFill>
              <a:srgbClr val="2F6FA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78" name="Text 4"/>
          <p:cNvSpPr/>
          <p:nvPr/>
        </p:nvSpPr>
        <p:spPr>
          <a:xfrm>
            <a:off x="804600" y="5696640"/>
            <a:ext cx="2925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1  reservation_room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79" name="Text 5"/>
          <p:cNvSpPr/>
          <p:nvPr/>
        </p:nvSpPr>
        <p:spPr>
          <a:xfrm>
            <a:off x="804600" y="593460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86979"/>
                </a:solidFill>
                <a:effectLst/>
                <a:uFillTx/>
                <a:latin typeface="Aptos"/>
              </a:rPr>
              <a:t>Supports multi-room reservations and late physical-room assignment.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80" name="Shape 6"/>
          <p:cNvSpPr/>
          <p:nvPr/>
        </p:nvSpPr>
        <p:spPr>
          <a:xfrm>
            <a:off x="4142160" y="5577840"/>
            <a:ext cx="3273120" cy="749520"/>
          </a:xfrm>
          <a:prstGeom prst="roundRect">
            <a:avLst>
              <a:gd name="adj" fmla="val 7317"/>
            </a:avLst>
          </a:prstGeom>
          <a:solidFill>
            <a:srgbClr val="EAF5F1"/>
          </a:solidFill>
          <a:ln w="12600">
            <a:solidFill>
              <a:srgbClr val="2A9D8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81" name="Text 7"/>
          <p:cNvSpPr/>
          <p:nvPr/>
        </p:nvSpPr>
        <p:spPr>
          <a:xfrm>
            <a:off x="4288680" y="5696640"/>
            <a:ext cx="2925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2  rate_snapshot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82" name="Text 8"/>
          <p:cNvSpPr/>
          <p:nvPr/>
        </p:nvSpPr>
        <p:spPr>
          <a:xfrm>
            <a:off x="4288680" y="593460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86979"/>
                </a:solidFill>
                <a:effectLst/>
                <a:uFillTx/>
                <a:latin typeface="Aptos"/>
              </a:rPr>
              <a:t>Preserves the agreed historical price even when rate plans change later.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83" name="Shape 9"/>
          <p:cNvSpPr/>
          <p:nvPr/>
        </p:nvSpPr>
        <p:spPr>
          <a:xfrm>
            <a:off x="7626240" y="5577840"/>
            <a:ext cx="3273120" cy="749520"/>
          </a:xfrm>
          <a:prstGeom prst="roundRect">
            <a:avLst>
              <a:gd name="adj" fmla="val 7317"/>
            </a:avLst>
          </a:prstGeom>
          <a:solidFill>
            <a:srgbClr val="FFF4D6"/>
          </a:solidFill>
          <a:ln w="12600">
            <a:solidFill>
              <a:srgbClr val="F4A2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84" name="Text 10"/>
          <p:cNvSpPr/>
          <p:nvPr/>
        </p:nvSpPr>
        <p:spPr>
          <a:xfrm>
            <a:off x="7772400" y="5696640"/>
            <a:ext cx="2925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3  related_payment_id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85" name="Text 11"/>
          <p:cNvSpPr/>
          <p:nvPr/>
        </p:nvSpPr>
        <p:spPr>
          <a:xfrm>
            <a:off x="7772400" y="593460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86979"/>
                </a:solidFill>
                <a:effectLst/>
                <a:uFillTx/>
                <a:latin typeface="Aptos"/>
              </a:rPr>
              <a:t>Links refunds or adjustments to the original financial transaction.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86" name="PlaceHolder 1"/>
          <p:cNvSpPr>
            <a:spLocks noGrp="1"/>
          </p:cNvSpPr>
          <p:nvPr>
            <p:ph type="sldNum" idx="11"/>
          </p:nvPr>
        </p:nvSpPr>
        <p:spPr>
          <a:xfrm>
            <a:off x="11722680" y="651960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7A8793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8C3D6CF-CECA-42F0-9BD2-F3A5FB31BAF6}" type="slidenum">
              <a:rPr lang="en-US" sz="900" b="0" u="none" strike="noStrike">
                <a:solidFill>
                  <a:srgbClr val="7A8793"/>
                </a:solidFill>
                <a:effectLst/>
                <a:uFillTx/>
                <a:latin typeface="Aptos"/>
                <a:ea typeface="Aptos"/>
              </a:rPr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10"/>
          <a:stretch>
            <a:fillRect/>
          </a:stretch>
        </p:blipFill>
        <p:spPr>
          <a:xfrm>
            <a:off x="2735983" y="1445730"/>
            <a:ext cx="6423077" cy="37231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Text 0"/>
          <p:cNvSpPr/>
          <p:nvPr/>
        </p:nvSpPr>
        <p:spPr>
          <a:xfrm>
            <a:off x="530280" y="311040"/>
            <a:ext cx="110638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163A5F"/>
                </a:solidFill>
                <a:effectLst/>
                <a:uFillTx/>
                <a:latin typeface="Aptos Display"/>
                <a:ea typeface="Aptos Display"/>
              </a:rPr>
              <a:t>Product Backlog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88" name="Text 1"/>
          <p:cNvSpPr/>
          <p:nvPr/>
        </p:nvSpPr>
        <p:spPr>
          <a:xfrm>
            <a:off x="548640" y="74988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86979"/>
                </a:solidFill>
                <a:effectLst/>
                <a:uFillTx/>
                <a:latin typeface="Aptos"/>
              </a:rPr>
              <a:t>Priorities, implementation sequence and current Sprint 1 status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89" name="Shape 2"/>
          <p:cNvSpPr/>
          <p:nvPr/>
        </p:nvSpPr>
        <p:spPr>
          <a:xfrm>
            <a:off x="567000" y="1170360"/>
            <a:ext cx="2998800" cy="1974600"/>
          </a:xfrm>
          <a:prstGeom prst="roundRect">
            <a:avLst>
              <a:gd name="adj" fmla="val 2778"/>
            </a:avLst>
          </a:prstGeom>
          <a:solidFill>
            <a:srgbClr val="EAF2F8"/>
          </a:solidFill>
          <a:ln w="12600">
            <a:solidFill>
              <a:srgbClr val="2F6FA3"/>
            </a:solidFill>
            <a:round/>
          </a:ln>
          <a:effectLst>
            <a:outerShdw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0" name="Text 3"/>
          <p:cNvSpPr/>
          <p:nvPr/>
        </p:nvSpPr>
        <p:spPr>
          <a:xfrm>
            <a:off x="822960" y="1426320"/>
            <a:ext cx="24868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2F6FA3"/>
                </a:solidFill>
                <a:effectLst/>
                <a:uFillTx/>
                <a:latin typeface="Aptos"/>
              </a:rPr>
              <a:t>MUST — Core Hotel Operations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1" name="Text 4"/>
          <p:cNvSpPr/>
          <p:nvPr/>
        </p:nvSpPr>
        <p:spPr>
          <a:xfrm>
            <a:off x="841320" y="1874520"/>
            <a:ext cx="234036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85000" lnSpcReduction="20000"/>
          </a:bodyPr>
          <a:lstStyle/>
          <a:p>
            <a:pPr marL="177800" indent="-177800" defTabSz="914400">
              <a:lnSpc>
                <a:spcPct val="100000"/>
              </a:lnSpc>
              <a:buClr>
                <a:srgbClr val="23303D"/>
              </a:buClr>
              <a:buFont typeface="Symbol" panose="05050102010706020507" charset="2"/>
              <a:buChar char=""/>
            </a:pPr>
            <a:r>
              <a:rPr lang="en-US" sz="1380" b="0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Authentication</a:t>
            </a:r>
            <a:endParaRPr lang="en-US" sz="138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7800" indent="-177800" defTabSz="914400">
              <a:lnSpc>
                <a:spcPct val="100000"/>
              </a:lnSpc>
              <a:buClr>
                <a:srgbClr val="23303D"/>
              </a:buClr>
              <a:buFont typeface="Symbol" panose="05050102010706020507" charset="2"/>
              <a:buChar char=""/>
            </a:pPr>
            <a:r>
              <a:rPr lang="en-US" sz="1380" b="0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Rooms &amp; rates</a:t>
            </a:r>
            <a:endParaRPr lang="en-US" sz="138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7800" indent="-177800" defTabSz="914400">
              <a:lnSpc>
                <a:spcPct val="100000"/>
              </a:lnSpc>
              <a:buClr>
                <a:srgbClr val="23303D"/>
              </a:buClr>
              <a:buFont typeface="Symbol" panose="05050102010706020507" charset="2"/>
              <a:buChar char=""/>
            </a:pPr>
            <a:r>
              <a:rPr lang="en-US" sz="1380" b="0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Guests &amp; reservations</a:t>
            </a:r>
            <a:endParaRPr lang="en-US" sz="138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7800" indent="-177800" defTabSz="914400">
              <a:lnSpc>
                <a:spcPct val="100000"/>
              </a:lnSpc>
              <a:buClr>
                <a:srgbClr val="23303D"/>
              </a:buClr>
              <a:buFont typeface="Symbol" panose="05050102010706020507" charset="2"/>
              <a:buChar char=""/>
            </a:pPr>
            <a:r>
              <a:rPr lang="en-US" sz="1380" b="0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Check-in / check-out</a:t>
            </a:r>
            <a:endParaRPr lang="en-US" sz="138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7800" indent="-177800" defTabSz="914400">
              <a:lnSpc>
                <a:spcPct val="100000"/>
              </a:lnSpc>
              <a:buClr>
                <a:srgbClr val="23303D"/>
              </a:buClr>
              <a:buFont typeface="Symbol" panose="05050102010706020507" charset="2"/>
              <a:buChar char=""/>
            </a:pPr>
            <a:r>
              <a:rPr lang="en-US" sz="1380" b="0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Payments</a:t>
            </a:r>
            <a:endParaRPr lang="en-US" sz="138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7800" indent="-177800" defTabSz="914400">
              <a:lnSpc>
                <a:spcPct val="100000"/>
              </a:lnSpc>
              <a:buClr>
                <a:srgbClr val="23303D"/>
              </a:buClr>
              <a:buFont typeface="Symbol" panose="05050102010706020507" charset="2"/>
              <a:buChar char=""/>
            </a:pPr>
            <a:r>
              <a:rPr lang="en-US" sz="1380" b="0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Housekeeping</a:t>
            </a:r>
            <a:endParaRPr lang="en-US" sz="138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7800" indent="-177800" defTabSz="914400">
              <a:lnSpc>
                <a:spcPct val="100000"/>
              </a:lnSpc>
              <a:buClr>
                <a:srgbClr val="23303D"/>
              </a:buClr>
              <a:buFont typeface="Symbol" panose="05050102010706020507" charset="2"/>
              <a:buChar char=""/>
            </a:pPr>
            <a:r>
              <a:rPr lang="en-US" sz="1380" b="0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Operational reports</a:t>
            </a:r>
            <a:endParaRPr lang="en-US" sz="138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2" name="Shape 5"/>
          <p:cNvSpPr/>
          <p:nvPr/>
        </p:nvSpPr>
        <p:spPr>
          <a:xfrm>
            <a:off x="3767400" y="1170360"/>
            <a:ext cx="2770200" cy="1974600"/>
          </a:xfrm>
          <a:prstGeom prst="roundRect">
            <a:avLst>
              <a:gd name="adj" fmla="val 2778"/>
            </a:avLst>
          </a:prstGeom>
          <a:solidFill>
            <a:srgbClr val="FFF4D6"/>
          </a:solidFill>
          <a:ln w="12600">
            <a:solidFill>
              <a:srgbClr val="F4A261"/>
            </a:solidFill>
            <a:round/>
          </a:ln>
          <a:effectLst>
            <a:outerShdw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3" name="Text 6"/>
          <p:cNvSpPr/>
          <p:nvPr/>
        </p:nvSpPr>
        <p:spPr>
          <a:xfrm>
            <a:off x="4041720" y="1426320"/>
            <a:ext cx="22125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8A6100"/>
                </a:solidFill>
                <a:effectLst/>
                <a:uFillTx/>
                <a:latin typeface="Aptos"/>
              </a:rPr>
              <a:t>SHOULD — Enhancements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4" name="Text 7"/>
          <p:cNvSpPr/>
          <p:nvPr/>
        </p:nvSpPr>
        <p:spPr>
          <a:xfrm>
            <a:off x="4069080" y="1938600"/>
            <a:ext cx="191988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177800" indent="-177800" defTabSz="914400">
              <a:lnSpc>
                <a:spcPct val="100000"/>
              </a:lnSpc>
              <a:buClr>
                <a:srgbClr val="23303D"/>
              </a:buClr>
              <a:buFont typeface="Symbol" panose="05050102010706020507" charset="2"/>
              <a:buChar char=""/>
            </a:pPr>
            <a:r>
              <a:rPr lang="en-US" sz="1450" b="0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Advanced filtering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7800" indent="-177800" defTabSz="914400">
              <a:lnSpc>
                <a:spcPct val="100000"/>
              </a:lnSpc>
              <a:buClr>
                <a:srgbClr val="23303D"/>
              </a:buClr>
              <a:buFont typeface="Symbol" panose="05050102010706020507" charset="2"/>
              <a:buChar char=""/>
            </a:pPr>
            <a:r>
              <a:rPr lang="en-US" sz="1450" b="0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CSV report export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5" name="Shape 8"/>
          <p:cNvSpPr/>
          <p:nvPr/>
        </p:nvSpPr>
        <p:spPr>
          <a:xfrm>
            <a:off x="6748200" y="1170360"/>
            <a:ext cx="4882680" cy="1974600"/>
          </a:xfrm>
          <a:prstGeom prst="roundRect">
            <a:avLst>
              <a:gd name="adj" fmla="val 2778"/>
            </a:avLst>
          </a:prstGeom>
          <a:solidFill>
            <a:srgbClr val="EAF5F1"/>
          </a:solidFill>
          <a:ln w="12600">
            <a:solidFill>
              <a:srgbClr val="2A9D8F"/>
            </a:solidFill>
            <a:round/>
          </a:ln>
          <a:effectLst>
            <a:outerShdw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6" name="Text 9"/>
          <p:cNvSpPr/>
          <p:nvPr/>
        </p:nvSpPr>
        <p:spPr>
          <a:xfrm>
            <a:off x="7059240" y="142632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2A9D8F"/>
                </a:solidFill>
                <a:effectLst/>
                <a:uFillTx/>
                <a:latin typeface="Aptos"/>
              </a:rPr>
              <a:t>CURRENT STATUS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7" name="Text 10"/>
          <p:cNvSpPr/>
          <p:nvPr/>
        </p:nvSpPr>
        <p:spPr>
          <a:xfrm>
            <a:off x="7059240" y="190188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Sprint 1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8" name="Shape 11"/>
          <p:cNvSpPr/>
          <p:nvPr/>
        </p:nvSpPr>
        <p:spPr>
          <a:xfrm>
            <a:off x="8229600" y="1810440"/>
            <a:ext cx="2331360" cy="347040"/>
          </a:xfrm>
          <a:prstGeom prst="roundRect">
            <a:avLst>
              <a:gd name="adj" fmla="val 21053"/>
            </a:avLst>
          </a:prstGeom>
          <a:solidFill>
            <a:srgbClr val="D9F0E8"/>
          </a:solidFill>
          <a:ln w="12600">
            <a:solidFill>
              <a:srgbClr val="D9F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9" name="Text 12"/>
          <p:cNvSpPr/>
          <p:nvPr/>
        </p:nvSpPr>
        <p:spPr>
          <a:xfrm>
            <a:off x="8275320" y="1869840"/>
            <a:ext cx="2239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5C9A7A"/>
                </a:solidFill>
                <a:effectLst/>
                <a:uFillTx/>
                <a:latin typeface="Aptos"/>
              </a:rPr>
              <a:t>READY FOR REVIEW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00" name="Text 13"/>
          <p:cNvSpPr/>
          <p:nvPr/>
        </p:nvSpPr>
        <p:spPr>
          <a:xfrm>
            <a:off x="7059240" y="2340720"/>
            <a:ext cx="3931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86979"/>
                </a:solidFill>
                <a:effectLst/>
                <a:uFillTx/>
                <a:latin typeface="Aptos"/>
              </a:rPr>
              <a:t>Changes to Done only after supervisor acceptance.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01" name="Shape 14"/>
          <p:cNvSpPr/>
          <p:nvPr/>
        </p:nvSpPr>
        <p:spPr>
          <a:xfrm>
            <a:off x="567000" y="3383280"/>
            <a:ext cx="11063880" cy="257832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600">
            <a:solidFill>
              <a:srgbClr val="D8E0E7"/>
            </a:solidFill>
            <a:round/>
          </a:ln>
          <a:effectLst>
            <a:outerShdw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02" name="Text 15"/>
          <p:cNvSpPr/>
          <p:nvPr/>
        </p:nvSpPr>
        <p:spPr>
          <a:xfrm>
            <a:off x="841320" y="3620880"/>
            <a:ext cx="21027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63A5F"/>
                </a:solidFill>
                <a:effectLst/>
                <a:uFillTx/>
                <a:latin typeface="Aptos"/>
              </a:rPr>
              <a:t>Implementation Roadmap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03" name="Shape 16"/>
          <p:cNvSpPr/>
          <p:nvPr/>
        </p:nvSpPr>
        <p:spPr>
          <a:xfrm>
            <a:off x="896040" y="4251960"/>
            <a:ext cx="529920" cy="529920"/>
          </a:xfrm>
          <a:prstGeom prst="ellipse">
            <a:avLst/>
          </a:prstGeom>
          <a:solidFill>
            <a:srgbClr val="2A9D8F"/>
          </a:solidFill>
          <a:ln w="12600">
            <a:solidFill>
              <a:srgbClr val="2A9D8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04" name="Text 17"/>
          <p:cNvSpPr/>
          <p:nvPr/>
        </p:nvSpPr>
        <p:spPr>
          <a:xfrm>
            <a:off x="896040" y="4343400"/>
            <a:ext cx="5299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05" name="Shape 18"/>
          <p:cNvSpPr/>
          <p:nvPr/>
        </p:nvSpPr>
        <p:spPr>
          <a:xfrm>
            <a:off x="1426320" y="4516920"/>
            <a:ext cx="822960" cy="360"/>
          </a:xfrm>
          <a:prstGeom prst="line">
            <a:avLst/>
          </a:prstGeom>
          <a:ln w="25560">
            <a:solidFill>
              <a:srgbClr val="BBC7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06" name="Text 19"/>
          <p:cNvSpPr/>
          <p:nvPr/>
        </p:nvSpPr>
        <p:spPr>
          <a:xfrm>
            <a:off x="548640" y="4919400"/>
            <a:ext cx="12250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Requirements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07" name="Shape 20"/>
          <p:cNvSpPr/>
          <p:nvPr/>
        </p:nvSpPr>
        <p:spPr>
          <a:xfrm>
            <a:off x="2249280" y="4251960"/>
            <a:ext cx="529920" cy="529920"/>
          </a:xfrm>
          <a:prstGeom prst="ellipse">
            <a:avLst/>
          </a:prstGeom>
          <a:solidFill>
            <a:srgbClr val="2F6FA3"/>
          </a:solidFill>
          <a:ln w="12600">
            <a:solidFill>
              <a:srgbClr val="2F6FA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08" name="Text 21"/>
          <p:cNvSpPr/>
          <p:nvPr/>
        </p:nvSpPr>
        <p:spPr>
          <a:xfrm>
            <a:off x="2249280" y="4343400"/>
            <a:ext cx="5299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09" name="Shape 22"/>
          <p:cNvSpPr/>
          <p:nvPr/>
        </p:nvSpPr>
        <p:spPr>
          <a:xfrm>
            <a:off x="2779560" y="4516920"/>
            <a:ext cx="822960" cy="360"/>
          </a:xfrm>
          <a:prstGeom prst="line">
            <a:avLst/>
          </a:prstGeom>
          <a:ln w="25560">
            <a:solidFill>
              <a:srgbClr val="BBC7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10" name="Text 23"/>
          <p:cNvSpPr/>
          <p:nvPr/>
        </p:nvSpPr>
        <p:spPr>
          <a:xfrm>
            <a:off x="1901880" y="4919400"/>
            <a:ext cx="12250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Foundation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11" name="Shape 24"/>
          <p:cNvSpPr/>
          <p:nvPr/>
        </p:nvSpPr>
        <p:spPr>
          <a:xfrm>
            <a:off x="3602880" y="4251960"/>
            <a:ext cx="529920" cy="529920"/>
          </a:xfrm>
          <a:prstGeom prst="ellipse">
            <a:avLst/>
          </a:prstGeom>
          <a:solidFill>
            <a:srgbClr val="C8D2DB"/>
          </a:solidFill>
          <a:ln w="12600">
            <a:solidFill>
              <a:srgbClr val="C8D2D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12" name="Text 25"/>
          <p:cNvSpPr/>
          <p:nvPr/>
        </p:nvSpPr>
        <p:spPr>
          <a:xfrm>
            <a:off x="3602880" y="4343400"/>
            <a:ext cx="5299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13" name="Shape 26"/>
          <p:cNvSpPr/>
          <p:nvPr/>
        </p:nvSpPr>
        <p:spPr>
          <a:xfrm>
            <a:off x="4132800" y="4516920"/>
            <a:ext cx="822960" cy="360"/>
          </a:xfrm>
          <a:prstGeom prst="line">
            <a:avLst/>
          </a:prstGeom>
          <a:ln w="25560">
            <a:solidFill>
              <a:srgbClr val="BBC7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14" name="Text 27"/>
          <p:cNvSpPr/>
          <p:nvPr/>
        </p:nvSpPr>
        <p:spPr>
          <a:xfrm>
            <a:off x="3255120" y="4919400"/>
            <a:ext cx="12250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86979"/>
                </a:solidFill>
                <a:effectLst/>
                <a:uFillTx/>
                <a:latin typeface="Aptos"/>
              </a:rPr>
              <a:t>Core Logic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15" name="Shape 28"/>
          <p:cNvSpPr/>
          <p:nvPr/>
        </p:nvSpPr>
        <p:spPr>
          <a:xfrm>
            <a:off x="4956120" y="4251960"/>
            <a:ext cx="529920" cy="529920"/>
          </a:xfrm>
          <a:prstGeom prst="ellipse">
            <a:avLst/>
          </a:prstGeom>
          <a:solidFill>
            <a:srgbClr val="C8D2DB"/>
          </a:solidFill>
          <a:ln w="12600">
            <a:solidFill>
              <a:srgbClr val="C8D2D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16" name="Text 29"/>
          <p:cNvSpPr/>
          <p:nvPr/>
        </p:nvSpPr>
        <p:spPr>
          <a:xfrm>
            <a:off x="4956120" y="4343400"/>
            <a:ext cx="5299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17" name="Shape 30"/>
          <p:cNvSpPr/>
          <p:nvPr/>
        </p:nvSpPr>
        <p:spPr>
          <a:xfrm>
            <a:off x="5486400" y="4516920"/>
            <a:ext cx="822960" cy="360"/>
          </a:xfrm>
          <a:prstGeom prst="line">
            <a:avLst/>
          </a:prstGeom>
          <a:ln w="25560">
            <a:solidFill>
              <a:srgbClr val="BBC7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18" name="Text 31"/>
          <p:cNvSpPr/>
          <p:nvPr/>
        </p:nvSpPr>
        <p:spPr>
          <a:xfrm>
            <a:off x="4608720" y="4919400"/>
            <a:ext cx="12250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86979"/>
                </a:solidFill>
                <a:effectLst/>
                <a:uFillTx/>
                <a:latin typeface="Aptos"/>
              </a:rPr>
              <a:t>User Interface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19" name="Shape 32"/>
          <p:cNvSpPr/>
          <p:nvPr/>
        </p:nvSpPr>
        <p:spPr>
          <a:xfrm>
            <a:off x="6309360" y="4251960"/>
            <a:ext cx="529920" cy="529920"/>
          </a:xfrm>
          <a:prstGeom prst="ellipse">
            <a:avLst/>
          </a:prstGeom>
          <a:solidFill>
            <a:srgbClr val="C8D2DB"/>
          </a:solidFill>
          <a:ln w="12600">
            <a:solidFill>
              <a:srgbClr val="C8D2D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0" name="Text 33"/>
          <p:cNvSpPr/>
          <p:nvPr/>
        </p:nvSpPr>
        <p:spPr>
          <a:xfrm>
            <a:off x="6309360" y="4343400"/>
            <a:ext cx="5299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1" name="Shape 34"/>
          <p:cNvSpPr/>
          <p:nvPr/>
        </p:nvSpPr>
        <p:spPr>
          <a:xfrm>
            <a:off x="6839640" y="4516920"/>
            <a:ext cx="822960" cy="360"/>
          </a:xfrm>
          <a:prstGeom prst="line">
            <a:avLst/>
          </a:prstGeom>
          <a:ln w="25560">
            <a:solidFill>
              <a:srgbClr val="BBC7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2" name="Text 35"/>
          <p:cNvSpPr/>
          <p:nvPr/>
        </p:nvSpPr>
        <p:spPr>
          <a:xfrm>
            <a:off x="5961960" y="4919400"/>
            <a:ext cx="12250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86979"/>
                </a:solidFill>
                <a:effectLst/>
                <a:uFillTx/>
                <a:latin typeface="Aptos"/>
              </a:rPr>
              <a:t>Integration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3" name="Shape 36"/>
          <p:cNvSpPr/>
          <p:nvPr/>
        </p:nvSpPr>
        <p:spPr>
          <a:xfrm>
            <a:off x="7662600" y="4251960"/>
            <a:ext cx="529920" cy="529920"/>
          </a:xfrm>
          <a:prstGeom prst="ellipse">
            <a:avLst/>
          </a:prstGeom>
          <a:solidFill>
            <a:srgbClr val="C8D2DB"/>
          </a:solidFill>
          <a:ln w="12600">
            <a:solidFill>
              <a:srgbClr val="C8D2D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4" name="Text 37"/>
          <p:cNvSpPr/>
          <p:nvPr/>
        </p:nvSpPr>
        <p:spPr>
          <a:xfrm>
            <a:off x="7662600" y="4343400"/>
            <a:ext cx="5299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5" name="Shape 38"/>
          <p:cNvSpPr/>
          <p:nvPr/>
        </p:nvSpPr>
        <p:spPr>
          <a:xfrm>
            <a:off x="8192880" y="4516920"/>
            <a:ext cx="822960" cy="360"/>
          </a:xfrm>
          <a:prstGeom prst="line">
            <a:avLst/>
          </a:prstGeom>
          <a:ln w="25560">
            <a:solidFill>
              <a:srgbClr val="BBC7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6" name="Text 39"/>
          <p:cNvSpPr/>
          <p:nvPr/>
        </p:nvSpPr>
        <p:spPr>
          <a:xfrm>
            <a:off x="7315200" y="4919400"/>
            <a:ext cx="12250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86979"/>
                </a:solidFill>
                <a:effectLst/>
                <a:uFillTx/>
                <a:latin typeface="Aptos"/>
              </a:rPr>
              <a:t>Quality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7" name="Shape 40"/>
          <p:cNvSpPr/>
          <p:nvPr/>
        </p:nvSpPr>
        <p:spPr>
          <a:xfrm>
            <a:off x="9015840" y="4251960"/>
            <a:ext cx="529920" cy="529920"/>
          </a:xfrm>
          <a:prstGeom prst="ellipse">
            <a:avLst/>
          </a:prstGeom>
          <a:solidFill>
            <a:srgbClr val="C8D2DB"/>
          </a:solidFill>
          <a:ln w="12600">
            <a:solidFill>
              <a:srgbClr val="C8D2D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8" name="Text 41"/>
          <p:cNvSpPr/>
          <p:nvPr/>
        </p:nvSpPr>
        <p:spPr>
          <a:xfrm>
            <a:off x="9015840" y="4343400"/>
            <a:ext cx="5299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9" name="Shape 42"/>
          <p:cNvSpPr/>
          <p:nvPr/>
        </p:nvSpPr>
        <p:spPr>
          <a:xfrm>
            <a:off x="9546120" y="4516920"/>
            <a:ext cx="822960" cy="360"/>
          </a:xfrm>
          <a:prstGeom prst="line">
            <a:avLst/>
          </a:prstGeom>
          <a:ln w="25560">
            <a:solidFill>
              <a:srgbClr val="BBC7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30" name="Text 43"/>
          <p:cNvSpPr/>
          <p:nvPr/>
        </p:nvSpPr>
        <p:spPr>
          <a:xfrm>
            <a:off x="8668440" y="4919400"/>
            <a:ext cx="12250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86979"/>
                </a:solidFill>
                <a:effectLst/>
                <a:uFillTx/>
                <a:latin typeface="Aptos"/>
              </a:rPr>
              <a:t>Documentation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31" name="Shape 44"/>
          <p:cNvSpPr/>
          <p:nvPr/>
        </p:nvSpPr>
        <p:spPr>
          <a:xfrm>
            <a:off x="10369440" y="4251960"/>
            <a:ext cx="529920" cy="529920"/>
          </a:xfrm>
          <a:prstGeom prst="ellipse">
            <a:avLst/>
          </a:prstGeom>
          <a:solidFill>
            <a:srgbClr val="C8D2DB"/>
          </a:solidFill>
          <a:ln w="12600">
            <a:solidFill>
              <a:srgbClr val="C8D2D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32" name="Text 45"/>
          <p:cNvSpPr/>
          <p:nvPr/>
        </p:nvSpPr>
        <p:spPr>
          <a:xfrm>
            <a:off x="10369440" y="4343400"/>
            <a:ext cx="5299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33" name="Text 46"/>
          <p:cNvSpPr/>
          <p:nvPr/>
        </p:nvSpPr>
        <p:spPr>
          <a:xfrm>
            <a:off x="10021680" y="4919400"/>
            <a:ext cx="12250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86979"/>
                </a:solidFill>
                <a:effectLst/>
                <a:uFillTx/>
                <a:latin typeface="Aptos"/>
              </a:rPr>
              <a:t>Final Review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34" name="Text 47"/>
          <p:cNvSpPr/>
          <p:nvPr/>
        </p:nvSpPr>
        <p:spPr>
          <a:xfrm>
            <a:off x="841320" y="5550480"/>
            <a:ext cx="10058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586979"/>
                </a:solidFill>
                <a:effectLst/>
                <a:uFillTx/>
                <a:latin typeface="Aptos"/>
              </a:rPr>
              <a:t>The backlog is maintained in Excel with ID, priority, planned sprint, dependencies, Definition of Done and status.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35" name="PlaceHolder 1"/>
          <p:cNvSpPr>
            <a:spLocks noGrp="1"/>
          </p:cNvSpPr>
          <p:nvPr>
            <p:ph type="sldNum" idx="12"/>
          </p:nvPr>
        </p:nvSpPr>
        <p:spPr>
          <a:xfrm>
            <a:off x="11722680" y="651960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7A8793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E1FC6B0-7F22-46EC-8582-C01D83DDD714}" type="slidenum">
              <a:rPr lang="en-US" sz="900" b="0" u="none" strike="noStrike">
                <a:solidFill>
                  <a:srgbClr val="7A8793"/>
                </a:solidFill>
                <a:effectLst/>
                <a:uFillTx/>
                <a:latin typeface="Aptos"/>
                <a:ea typeface="Aptos"/>
              </a:rPr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Text 0"/>
          <p:cNvSpPr/>
          <p:nvPr/>
        </p:nvSpPr>
        <p:spPr>
          <a:xfrm>
            <a:off x="530280" y="311040"/>
            <a:ext cx="110638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163A5F"/>
                </a:solidFill>
                <a:effectLst/>
                <a:uFillTx/>
                <a:latin typeface="Aptos Display"/>
                <a:ea typeface="Aptos Display"/>
              </a:rPr>
              <a:t>Next Sprint Plan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37" name="Text 1"/>
          <p:cNvSpPr/>
          <p:nvPr/>
        </p:nvSpPr>
        <p:spPr>
          <a:xfrm>
            <a:off x="548640" y="74988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86979"/>
                </a:solidFill>
                <a:effectLst/>
                <a:uFillTx/>
                <a:latin typeface="Aptos"/>
              </a:rPr>
              <a:t>Sprint 2 — Project Initialization and Software Architecture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38" name="Shape 2"/>
          <p:cNvSpPr/>
          <p:nvPr/>
        </p:nvSpPr>
        <p:spPr>
          <a:xfrm>
            <a:off x="567000" y="1188720"/>
            <a:ext cx="2880000" cy="4974120"/>
          </a:xfrm>
          <a:prstGeom prst="roundRect">
            <a:avLst>
              <a:gd name="adj" fmla="val 1905"/>
            </a:avLst>
          </a:prstGeom>
          <a:solidFill>
            <a:srgbClr val="EAF2F8"/>
          </a:solidFill>
          <a:ln w="12600">
            <a:solidFill>
              <a:srgbClr val="2F6FA3"/>
            </a:solidFill>
            <a:round/>
          </a:ln>
          <a:effectLst>
            <a:outerShdw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39" name="Text 3"/>
          <p:cNvSpPr/>
          <p:nvPr/>
        </p:nvSpPr>
        <p:spPr>
          <a:xfrm>
            <a:off x="841320" y="1527120"/>
            <a:ext cx="23313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F6FA3"/>
                </a:solidFill>
                <a:effectLst/>
                <a:uFillTx/>
                <a:latin typeface="Aptos"/>
              </a:rPr>
              <a:t>WHY THERE IS NO CODE YET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40" name="Text 4"/>
          <p:cNvSpPr/>
          <p:nvPr/>
        </p:nvSpPr>
        <p:spPr>
          <a:xfrm>
            <a:off x="859680" y="2331720"/>
            <a:ext cx="2267280" cy="1572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 fontScale="92500"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Sprint 1 is an analysis and design sprint.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Implementation begins only after requirements and the initial design are reviewed and approved.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41" name="Shape 5"/>
          <p:cNvSpPr/>
          <p:nvPr/>
        </p:nvSpPr>
        <p:spPr>
          <a:xfrm>
            <a:off x="960120" y="4325040"/>
            <a:ext cx="2057040" cy="347040"/>
          </a:xfrm>
          <a:prstGeom prst="roundRect">
            <a:avLst>
              <a:gd name="adj" fmla="val 21053"/>
            </a:avLst>
          </a:prstGeom>
          <a:solidFill>
            <a:srgbClr val="DDECF7"/>
          </a:solidFill>
          <a:ln w="12600">
            <a:solidFill>
              <a:srgbClr val="DDEC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42" name="Text 6"/>
          <p:cNvSpPr/>
          <p:nvPr/>
        </p:nvSpPr>
        <p:spPr>
          <a:xfrm>
            <a:off x="1005840" y="4384440"/>
            <a:ext cx="19656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F6FA3"/>
                </a:solidFill>
                <a:effectLst/>
                <a:uFillTx/>
                <a:latin typeface="Aptos"/>
              </a:rPr>
              <a:t>SPRINT 1 → DESIGN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43" name="Shape 7"/>
          <p:cNvSpPr/>
          <p:nvPr/>
        </p:nvSpPr>
        <p:spPr>
          <a:xfrm>
            <a:off x="960120" y="4846320"/>
            <a:ext cx="2057040" cy="347040"/>
          </a:xfrm>
          <a:prstGeom prst="roundRect">
            <a:avLst>
              <a:gd name="adj" fmla="val 21053"/>
            </a:avLst>
          </a:prstGeom>
          <a:solidFill>
            <a:srgbClr val="D9F0E8"/>
          </a:solidFill>
          <a:ln w="12600">
            <a:solidFill>
              <a:srgbClr val="D9F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44" name="Text 8"/>
          <p:cNvSpPr/>
          <p:nvPr/>
        </p:nvSpPr>
        <p:spPr>
          <a:xfrm>
            <a:off x="1005840" y="4905720"/>
            <a:ext cx="19656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5C9A7A"/>
                </a:solidFill>
                <a:effectLst/>
                <a:uFillTx/>
                <a:latin typeface="Aptos"/>
              </a:rPr>
              <a:t>SPRINT 2 → BUILD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45" name="Text 9"/>
          <p:cNvSpPr/>
          <p:nvPr/>
        </p:nvSpPr>
        <p:spPr>
          <a:xfrm>
            <a:off x="859680" y="5513760"/>
            <a:ext cx="22856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586979"/>
                </a:solidFill>
                <a:effectLst/>
                <a:uFillTx/>
                <a:latin typeface="Aptos"/>
              </a:rPr>
              <a:t>The review result becomes the input to Sprint 2.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46" name="Shape 10"/>
          <p:cNvSpPr/>
          <p:nvPr/>
        </p:nvSpPr>
        <p:spPr>
          <a:xfrm>
            <a:off x="3703320" y="1188720"/>
            <a:ext cx="7936560" cy="4974120"/>
          </a:xfrm>
          <a:prstGeom prst="roundRect">
            <a:avLst>
              <a:gd name="adj" fmla="val 1103"/>
            </a:avLst>
          </a:prstGeom>
          <a:solidFill>
            <a:srgbClr val="FFFFFF"/>
          </a:solidFill>
          <a:ln w="12600">
            <a:solidFill>
              <a:srgbClr val="D8E0E7"/>
            </a:solidFill>
            <a:round/>
          </a:ln>
          <a:effectLst>
            <a:outerShdw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47" name="Text 11"/>
          <p:cNvSpPr/>
          <p:nvPr/>
        </p:nvSpPr>
        <p:spPr>
          <a:xfrm>
            <a:off x="4023360" y="1463040"/>
            <a:ext cx="3017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63A5F"/>
                </a:solidFill>
                <a:effectLst/>
                <a:uFillTx/>
                <a:latin typeface="Aptos"/>
              </a:rPr>
              <a:t>Planned Sprint 2 Work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48" name="Shape 12"/>
          <p:cNvSpPr/>
          <p:nvPr/>
        </p:nvSpPr>
        <p:spPr>
          <a:xfrm>
            <a:off x="4041720" y="2039040"/>
            <a:ext cx="438480" cy="438480"/>
          </a:xfrm>
          <a:prstGeom prst="ellipse">
            <a:avLst/>
          </a:prstGeom>
          <a:solidFill>
            <a:srgbClr val="163A5F"/>
          </a:solidFill>
          <a:ln w="12600">
            <a:solidFill>
              <a:srgbClr val="16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49" name="Text 13"/>
          <p:cNvSpPr/>
          <p:nvPr/>
        </p:nvSpPr>
        <p:spPr>
          <a:xfrm>
            <a:off x="4041720" y="211212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50" name="Text 14"/>
          <p:cNvSpPr/>
          <p:nvPr/>
        </p:nvSpPr>
        <p:spPr>
          <a:xfrm>
            <a:off x="4654440" y="2020680"/>
            <a:ext cx="2514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Git Repository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51" name="Text 15"/>
          <p:cNvSpPr/>
          <p:nvPr/>
        </p:nvSpPr>
        <p:spPr>
          <a:xfrm>
            <a:off x="4654440" y="2313360"/>
            <a:ext cx="2514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586979"/>
                </a:solidFill>
                <a:effectLst/>
                <a:uFillTx/>
                <a:latin typeface="Aptos"/>
              </a:rPr>
              <a:t>version control &amp; project structure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52" name="Shape 16"/>
          <p:cNvSpPr/>
          <p:nvPr/>
        </p:nvSpPr>
        <p:spPr>
          <a:xfrm>
            <a:off x="7571160" y="2039040"/>
            <a:ext cx="438480" cy="438480"/>
          </a:xfrm>
          <a:prstGeom prst="ellipse">
            <a:avLst/>
          </a:prstGeom>
          <a:solidFill>
            <a:srgbClr val="2F6FA3"/>
          </a:solidFill>
          <a:ln w="12600">
            <a:solidFill>
              <a:srgbClr val="2F6FA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53" name="Text 17"/>
          <p:cNvSpPr/>
          <p:nvPr/>
        </p:nvSpPr>
        <p:spPr>
          <a:xfrm>
            <a:off x="7571160" y="211212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54" name="Text 18"/>
          <p:cNvSpPr/>
          <p:nvPr/>
        </p:nvSpPr>
        <p:spPr>
          <a:xfrm>
            <a:off x="8183880" y="2020680"/>
            <a:ext cx="2514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Spring Boot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55" name="Text 19"/>
          <p:cNvSpPr/>
          <p:nvPr/>
        </p:nvSpPr>
        <p:spPr>
          <a:xfrm>
            <a:off x="8183880" y="2313360"/>
            <a:ext cx="2514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586979"/>
                </a:solidFill>
                <a:effectLst/>
                <a:uFillTx/>
                <a:latin typeface="Aptos"/>
              </a:rPr>
              <a:t>Java 21 + Maven project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56" name="Shape 20"/>
          <p:cNvSpPr/>
          <p:nvPr/>
        </p:nvSpPr>
        <p:spPr>
          <a:xfrm>
            <a:off x="4041720" y="3108960"/>
            <a:ext cx="438480" cy="438480"/>
          </a:xfrm>
          <a:prstGeom prst="ellipse">
            <a:avLst/>
          </a:prstGeom>
          <a:solidFill>
            <a:srgbClr val="2A9D8F"/>
          </a:solidFill>
          <a:ln w="12600">
            <a:solidFill>
              <a:srgbClr val="2A9D8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57" name="Text 21"/>
          <p:cNvSpPr/>
          <p:nvPr/>
        </p:nvSpPr>
        <p:spPr>
          <a:xfrm>
            <a:off x="4041720" y="318204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58" name="Text 22"/>
          <p:cNvSpPr/>
          <p:nvPr/>
        </p:nvSpPr>
        <p:spPr>
          <a:xfrm>
            <a:off x="4654440" y="3090600"/>
            <a:ext cx="2514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PostgreSQL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59" name="Text 23"/>
          <p:cNvSpPr/>
          <p:nvPr/>
        </p:nvSpPr>
        <p:spPr>
          <a:xfrm>
            <a:off x="4654440" y="3383280"/>
            <a:ext cx="2514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586979"/>
                </a:solidFill>
                <a:effectLst/>
                <a:uFillTx/>
                <a:latin typeface="Aptos"/>
              </a:rPr>
              <a:t>database + Flyway migrations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60" name="Shape 24"/>
          <p:cNvSpPr/>
          <p:nvPr/>
        </p:nvSpPr>
        <p:spPr>
          <a:xfrm>
            <a:off x="7571160" y="3108960"/>
            <a:ext cx="438480" cy="438480"/>
          </a:xfrm>
          <a:prstGeom prst="ellipse">
            <a:avLst/>
          </a:prstGeom>
          <a:solidFill>
            <a:srgbClr val="5C9A7A"/>
          </a:solidFill>
          <a:ln w="12600">
            <a:solidFill>
              <a:srgbClr val="5C9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61" name="Text 25"/>
          <p:cNvSpPr/>
          <p:nvPr/>
        </p:nvSpPr>
        <p:spPr>
          <a:xfrm>
            <a:off x="7571160" y="318204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62" name="Text 26"/>
          <p:cNvSpPr/>
          <p:nvPr/>
        </p:nvSpPr>
        <p:spPr>
          <a:xfrm>
            <a:off x="8183880" y="3090600"/>
            <a:ext cx="2514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Base Architecture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63" name="Text 27"/>
          <p:cNvSpPr/>
          <p:nvPr/>
        </p:nvSpPr>
        <p:spPr>
          <a:xfrm>
            <a:off x="8183880" y="3383280"/>
            <a:ext cx="2514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586979"/>
                </a:solidFill>
                <a:effectLst/>
                <a:uFillTx/>
                <a:latin typeface="Aptos"/>
              </a:rPr>
              <a:t>layers, entities &amp; repositories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64" name="Shape 28"/>
          <p:cNvSpPr/>
          <p:nvPr/>
        </p:nvSpPr>
        <p:spPr>
          <a:xfrm>
            <a:off x="4041720" y="4178880"/>
            <a:ext cx="438480" cy="438480"/>
          </a:xfrm>
          <a:prstGeom prst="ellipse">
            <a:avLst/>
          </a:prstGeom>
          <a:solidFill>
            <a:srgbClr val="F4A261"/>
          </a:solidFill>
          <a:ln w="12600">
            <a:solidFill>
              <a:srgbClr val="F4A2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65" name="Text 29"/>
          <p:cNvSpPr/>
          <p:nvPr/>
        </p:nvSpPr>
        <p:spPr>
          <a:xfrm>
            <a:off x="4041720" y="425196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5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66" name="Text 30"/>
          <p:cNvSpPr/>
          <p:nvPr/>
        </p:nvSpPr>
        <p:spPr>
          <a:xfrm>
            <a:off x="4654440" y="4160520"/>
            <a:ext cx="2514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UML Design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67" name="Text 31"/>
          <p:cNvSpPr/>
          <p:nvPr/>
        </p:nvSpPr>
        <p:spPr>
          <a:xfrm>
            <a:off x="4654440" y="4453200"/>
            <a:ext cx="2514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586979"/>
                </a:solidFill>
                <a:effectLst/>
                <a:uFillTx/>
                <a:latin typeface="Aptos"/>
              </a:rPr>
              <a:t>Class + Package Diagrams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68" name="Shape 32"/>
          <p:cNvSpPr/>
          <p:nvPr/>
        </p:nvSpPr>
        <p:spPr>
          <a:xfrm>
            <a:off x="7571160" y="4178880"/>
            <a:ext cx="438480" cy="438480"/>
          </a:xfrm>
          <a:prstGeom prst="ellipse">
            <a:avLst/>
          </a:prstGeom>
          <a:solidFill>
            <a:srgbClr val="E76F51"/>
          </a:solidFill>
          <a:ln w="12600">
            <a:solidFill>
              <a:srgbClr val="E76F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69" name="Text 33"/>
          <p:cNvSpPr/>
          <p:nvPr/>
        </p:nvSpPr>
        <p:spPr>
          <a:xfrm>
            <a:off x="7571160" y="425196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6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70" name="Text 34"/>
          <p:cNvSpPr/>
          <p:nvPr/>
        </p:nvSpPr>
        <p:spPr>
          <a:xfrm>
            <a:off x="8183880" y="4160520"/>
            <a:ext cx="2514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3303D"/>
                </a:solidFill>
                <a:effectLst/>
                <a:uFillTx/>
                <a:latin typeface="Aptos"/>
              </a:rPr>
              <a:t>Installation Guide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71" name="Text 35"/>
          <p:cNvSpPr/>
          <p:nvPr/>
        </p:nvSpPr>
        <p:spPr>
          <a:xfrm>
            <a:off x="8183880" y="4453200"/>
            <a:ext cx="2514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586979"/>
                </a:solidFill>
                <a:effectLst/>
                <a:uFillTx/>
                <a:latin typeface="Aptos"/>
              </a:rPr>
              <a:t>build and setup instructions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72" name="Shape 36"/>
          <p:cNvSpPr/>
          <p:nvPr/>
        </p:nvSpPr>
        <p:spPr>
          <a:xfrm>
            <a:off x="4023360" y="5468040"/>
            <a:ext cx="7223400" cy="383760"/>
          </a:xfrm>
          <a:prstGeom prst="roundRect">
            <a:avLst>
              <a:gd name="adj" fmla="val 9524"/>
            </a:avLst>
          </a:prstGeom>
          <a:solidFill>
            <a:srgbClr val="EAF5F1"/>
          </a:solidFill>
          <a:ln w="12600">
            <a:solidFill>
              <a:srgbClr val="EAF5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73" name="Text 37"/>
          <p:cNvSpPr/>
          <p:nvPr/>
        </p:nvSpPr>
        <p:spPr>
          <a:xfrm>
            <a:off x="4160520" y="5541120"/>
            <a:ext cx="69490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5C9A7A"/>
                </a:solidFill>
                <a:effectLst/>
                <a:uFillTx/>
                <a:latin typeface="Aptos"/>
              </a:rPr>
              <a:t>Expected Sprint 2 result: the application builds, starts and connects to PostgreSQL.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74" name="PlaceHolder 1"/>
          <p:cNvSpPr>
            <a:spLocks noGrp="1"/>
          </p:cNvSpPr>
          <p:nvPr>
            <p:ph type="sldNum" idx="13"/>
          </p:nvPr>
        </p:nvSpPr>
        <p:spPr>
          <a:xfrm>
            <a:off x="11722680" y="651960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7A8793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4F083BA-A922-4240-B63C-341E235E372E}" type="slidenum">
              <a:rPr lang="en-US" sz="900" b="0" u="none" strike="noStrike">
                <a:solidFill>
                  <a:srgbClr val="7A8793"/>
                </a:solidFill>
                <a:effectLst/>
                <a:uFillTx/>
                <a:latin typeface="Aptos"/>
                <a:ea typeface="Aptos"/>
              </a:rPr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5089</Words>
  <Application>WPS 演示</Application>
  <PresentationFormat>宽屏</PresentationFormat>
  <Paragraphs>456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5" baseType="lpstr">
      <vt:lpstr>Arial</vt:lpstr>
      <vt:lpstr>宋体</vt:lpstr>
      <vt:lpstr>Wingdings</vt:lpstr>
      <vt:lpstr>Arial</vt:lpstr>
      <vt:lpstr>Aptos</vt:lpstr>
      <vt:lpstr>Segoe UI</vt:lpstr>
      <vt:lpstr>Times New Roman</vt:lpstr>
      <vt:lpstr>Symbol</vt:lpstr>
      <vt:lpstr>Aptos Display</vt:lpstr>
      <vt:lpstr>Segoe UI Variable Display</vt:lpstr>
      <vt:lpstr>微软雅黑</vt:lpstr>
      <vt:lpstr>Arial Unicode MS</vt:lpstr>
      <vt:lpstr>DejaVu Sans</vt:lpstr>
      <vt:lpstr>Calibri</vt:lpstr>
      <vt:lpstr>Office Theme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National Technical University "Kharkiv Polytechnic Institute"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曹佩钦</cp:lastModifiedBy>
  <cp:revision>9</cp:revision>
  <dcterms:created xsi:type="dcterms:W3CDTF">2026-08-19T15:43:44Z</dcterms:created>
  <dcterms:modified xsi:type="dcterms:W3CDTF">2026-08-19T15:56:36Z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9</vt:r8>
  </property>
  <property fmtid="{D5CDD505-2E9C-101B-9397-08002B2CF9AE}" pid="3" name="PresentationFormat">
    <vt:lpwstr>On-screen Show (16:9)</vt:lpwstr>
  </property>
  <property fmtid="{D5CDD505-2E9C-101B-9397-08002B2CF9AE}" pid="4" name="Slides">
    <vt:r8>9</vt:r8>
  </property>
  <property fmtid="{D5CDD505-2E9C-101B-9397-08002B2CF9AE}" pid="5" name="KSOProductBuildVer">
    <vt:lpwstr>2052-12.1.0.28043</vt:lpwstr>
  </property>
  <property fmtid="{D5CDD505-2E9C-101B-9397-08002B2CF9AE}" pid="6" name="ICV">
    <vt:lpwstr>6369FEF636B14FB1AA710B003D75C821_12</vt:lpwstr>
  </property>
</Properties>
</file>